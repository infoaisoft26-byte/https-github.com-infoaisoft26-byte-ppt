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Global Finance presentation. Global Finance is building a state-of-the-art digital finance ecosystem that empowers participants worldwide, opening up transparent and sustainable financial opportunities through decentralized blockchain technology and USDT.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Global Finance: Our mission is to bridge individuals with technological innovation and accessible wealth-generation opportunities on a secure, audited blockchain infrastructure operating entirely in USDT.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Company: Headquartered in London, United Kingdom, Global Finance operates with rigorous governance, bridging international markets through strategic liquidity allocations, verified fintech systems, and strict regulatory adherence.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&amp; Mission: Global Finance focuses purely on USDT-denominated stability, removing volatile currency risks for members and providing predictable, institutional-level yield distribution across transparent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Finance features 7 distinct income streams designed to reward both passive participants and active network builders. Every stream is calculated and paid out in USDT on a transparent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Income: Direct sponsors earn a generous 10% instant commission in USDT on every single referral investment, credited immediately upon package activation without any caps or lockups.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Income: From Level 2 through Level 12, earn 0.25% on every qualifying referral investment. Most importantly, there are NO mandatory personal requirements or leg balance restrictions to earn Level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Withdrawal ROI Income: Global Finance operates on a disciplined 25-day cycle. Each day, 5% is allocated: 4% represents your daily principal allocation and 1% represents daily profit. Over 25 days, the total allocation is 125% of your original investment (100% returned principal + 25% profit). Notice that principal and profit are separately and transparently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Compounding ROI Income: By opting into automated compounding instead of daily withdrawal, members allow their daily allocation to re-enter the allocation pool, producing significant compounding power across 25, 50, and 100 day cycles in USDT.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 on ROI Income: When members in your downline receive their daily ROI, you earn a percentage of their daily payout every single day. 5% from your Level 1 direct team, and 1% each across Levels 2 through 12, without qualification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 Staking Income: For members seeking locked tenure commitments, Global Finance offers 5 verified FD packages in USDT. Option 1 runs for 180 days on a 12% daily basis, and Option 2 runs for 240 days on a 20% daily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Salary Income: Dedicated leaders qualify for predictable Lifetime Monthly Salary paid in USDT upon reaching team milestones, ranging from 25 USDT per month for Associates up to 50,000 USDT per month for Diamond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and Conditions: Minimum withdrawal is just 1 USDT. All deposits and withdrawals use BEP-20 USDT for fast, low-cost network execution. Zero admin fees (0%), 24/7 withdrawal window, and no conditions required to earn level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Us: Official Global Finance platform and London UK corporate address. We provide round-the-clock multilingual assistance for all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valuable time and participation. Welcome to the Global Finance family — Together, we build a smarter, wealthier, and more secure financial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3803904" y="640080"/>
            <a:ext cx="4572000" cy="2560320"/>
          </a:xfrm>
          <a:prstGeom prst="rect">
            <a:avLst/>
          </a:prstGeom>
        </p:spPr>
      </p:pic>
      <p:sp>
        <p:nvSpPr>
          <p:cNvPr id="4" name="Text 0"/>
          <p:cNvSpPr/>
          <p:nvPr/>
        </p:nvSpPr>
        <p:spPr>
          <a:xfrm>
            <a:off x="457200" y="3291840"/>
            <a:ext cx="11274552" cy="365760"/>
          </a:xfrm>
          <a:prstGeom prst="rect">
            <a:avLst/>
          </a:prstGeom>
          <a:noFill/>
          <a:ln/>
        </p:spPr>
        <p:txBody>
          <a:bodyPr wrap="square" rtlCol="0" anchor="ctr"/>
          <a:lstStyle/>
          <a:p>
            <a:pPr algn="ctr" indent="0" marL="0">
              <a:buNone/>
            </a:pPr>
            <a:r>
              <a:rPr lang="en-US" sz="1800" b="1" dirty="0">
                <a:solidFill>
                  <a:srgbClr val="00F0FF"/>
                </a:solidFill>
                <a:latin typeface="Arial" pitchFamily="34" charset="0"/>
                <a:ea typeface="Arial" pitchFamily="34" charset="-122"/>
                <a:cs typeface="Arial" pitchFamily="34" charset="-120"/>
              </a:rPr>
              <a:t>WELCOME TO</a:t>
            </a:r>
            <a:endParaRPr lang="en-US" sz="1800" dirty="0"/>
          </a:p>
        </p:txBody>
      </p:sp>
      <p:sp>
        <p:nvSpPr>
          <p:cNvPr id="5" name="Text 1"/>
          <p:cNvSpPr/>
          <p:nvPr/>
        </p:nvSpPr>
        <p:spPr>
          <a:xfrm>
            <a:off x="457200" y="3703320"/>
            <a:ext cx="11274552" cy="822960"/>
          </a:xfrm>
          <a:prstGeom prst="rect">
            <a:avLst/>
          </a:prstGeom>
          <a:noFill/>
          <a:ln/>
        </p:spPr>
        <p:txBody>
          <a:bodyPr wrap="square" rtlCol="0" anchor="ctr"/>
          <a:lstStyle/>
          <a:p>
            <a:pPr algn="ctr" indent="0" marL="0">
              <a:buNone/>
            </a:pPr>
            <a:r>
              <a:rPr lang="en-US" sz="3400" b="1" dirty="0">
                <a:solidFill>
                  <a:srgbClr val="F59E0B"/>
                </a:solidFill>
                <a:latin typeface="Arial" pitchFamily="34" charset="0"/>
                <a:ea typeface="Arial" pitchFamily="34" charset="-122"/>
                <a:cs typeface="Arial" pitchFamily="34" charset="-120"/>
              </a:rPr>
              <a:t>Digital Finance for a Smarter Future</a:t>
            </a:r>
            <a:endParaRPr lang="en-US" sz="3400" dirty="0"/>
          </a:p>
        </p:txBody>
      </p:sp>
      <p:sp>
        <p:nvSpPr>
          <p:cNvPr id="6" name="Text 2"/>
          <p:cNvSpPr/>
          <p:nvPr/>
        </p:nvSpPr>
        <p:spPr>
          <a:xfrm>
            <a:off x="1371600" y="4617720"/>
            <a:ext cx="9445752" cy="54864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We are building a global digital finance ecosystem that empowers people, creates opportunities and drives sustainable growth.</a:t>
            </a:r>
            <a:endParaRPr lang="en-US" sz="1400" dirty="0"/>
          </a:p>
        </p:txBody>
      </p:sp>
      <p:sp>
        <p:nvSpPr>
          <p:cNvPr id="7" name="Shape 3"/>
          <p:cNvSpPr/>
          <p:nvPr/>
        </p:nvSpPr>
        <p:spPr>
          <a:xfrm>
            <a:off x="914400" y="5349240"/>
            <a:ext cx="2377440" cy="640080"/>
          </a:xfrm>
          <a:prstGeom prst="roundRect">
            <a:avLst/>
          </a:prstGeom>
          <a:solidFill>
            <a:srgbClr val="0E1A38"/>
          </a:solidFill>
          <a:ln w="19050">
            <a:solidFill>
              <a:srgbClr val="F59E0B"/>
            </a:solidFill>
            <a:prstDash val="solid"/>
          </a:ln>
        </p:spPr>
      </p:sp>
      <p:sp>
        <p:nvSpPr>
          <p:cNvPr id="8" name="Text 4"/>
          <p:cNvSpPr/>
          <p:nvPr/>
        </p:nvSpPr>
        <p:spPr>
          <a:xfrm>
            <a:off x="914400" y="5440680"/>
            <a:ext cx="237744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Trusted Solutions</a:t>
            </a:r>
            <a:endParaRPr lang="en-US" sz="1200" dirty="0"/>
          </a:p>
        </p:txBody>
      </p:sp>
      <p:sp>
        <p:nvSpPr>
          <p:cNvPr id="9" name="Shape 5"/>
          <p:cNvSpPr/>
          <p:nvPr/>
        </p:nvSpPr>
        <p:spPr>
          <a:xfrm>
            <a:off x="3520440" y="5349240"/>
            <a:ext cx="2377440" cy="640080"/>
          </a:xfrm>
          <a:prstGeom prst="roundRect">
            <a:avLst/>
          </a:prstGeom>
          <a:solidFill>
            <a:srgbClr val="0E1A38"/>
          </a:solidFill>
          <a:ln w="19050">
            <a:solidFill>
              <a:srgbClr val="F59E0B"/>
            </a:solidFill>
            <a:prstDash val="solid"/>
          </a:ln>
        </p:spPr>
      </p:sp>
      <p:sp>
        <p:nvSpPr>
          <p:cNvPr id="10" name="Text 6"/>
          <p:cNvSpPr/>
          <p:nvPr/>
        </p:nvSpPr>
        <p:spPr>
          <a:xfrm>
            <a:off x="3520440" y="5440680"/>
            <a:ext cx="237744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Sustainable Growth</a:t>
            </a:r>
            <a:endParaRPr lang="en-US" sz="1200" dirty="0"/>
          </a:p>
        </p:txBody>
      </p:sp>
      <p:sp>
        <p:nvSpPr>
          <p:cNvPr id="11" name="Shape 7"/>
          <p:cNvSpPr/>
          <p:nvPr/>
        </p:nvSpPr>
        <p:spPr>
          <a:xfrm>
            <a:off x="6126480" y="5349240"/>
            <a:ext cx="2377440" cy="640080"/>
          </a:xfrm>
          <a:prstGeom prst="roundRect">
            <a:avLst/>
          </a:prstGeom>
          <a:solidFill>
            <a:srgbClr val="0E1A38"/>
          </a:solidFill>
          <a:ln w="19050">
            <a:solidFill>
              <a:srgbClr val="F59E0B"/>
            </a:solidFill>
            <a:prstDash val="solid"/>
          </a:ln>
        </p:spPr>
      </p:sp>
      <p:sp>
        <p:nvSpPr>
          <p:cNvPr id="12" name="Text 8"/>
          <p:cNvSpPr/>
          <p:nvPr/>
        </p:nvSpPr>
        <p:spPr>
          <a:xfrm>
            <a:off x="6126480" y="5440680"/>
            <a:ext cx="237744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Financial Inclusion</a:t>
            </a:r>
            <a:endParaRPr lang="en-US" sz="1200" dirty="0"/>
          </a:p>
        </p:txBody>
      </p:sp>
      <p:sp>
        <p:nvSpPr>
          <p:cNvPr id="13" name="Shape 9"/>
          <p:cNvSpPr/>
          <p:nvPr/>
        </p:nvSpPr>
        <p:spPr>
          <a:xfrm>
            <a:off x="8732520" y="5349240"/>
            <a:ext cx="2377440" cy="640080"/>
          </a:xfrm>
          <a:prstGeom prst="roundRect">
            <a:avLst/>
          </a:prstGeom>
          <a:solidFill>
            <a:srgbClr val="0E1A38"/>
          </a:solidFill>
          <a:ln w="19050">
            <a:solidFill>
              <a:srgbClr val="F59E0B"/>
            </a:solidFill>
            <a:prstDash val="solid"/>
          </a:ln>
        </p:spPr>
      </p:sp>
      <p:sp>
        <p:nvSpPr>
          <p:cNvPr id="14" name="Text 10"/>
          <p:cNvSpPr/>
          <p:nvPr/>
        </p:nvSpPr>
        <p:spPr>
          <a:xfrm>
            <a:off x="8732520" y="5440680"/>
            <a:ext cx="237744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Customer First</a:t>
            </a:r>
            <a:endParaRPr lang="en-US" sz="1200" dirty="0"/>
          </a:p>
        </p:txBody>
      </p:sp>
      <p:sp>
        <p:nvSpPr>
          <p:cNvPr id="15" name="Shape 11"/>
          <p:cNvSpPr/>
          <p:nvPr/>
        </p:nvSpPr>
        <p:spPr>
          <a:xfrm>
            <a:off x="0" y="6309360"/>
            <a:ext cx="9144000" cy="548640"/>
          </a:xfrm>
          <a:prstGeom prst="rect">
            <a:avLst/>
          </a:prstGeom>
          <a:solidFill>
            <a:srgbClr val="0A142F"/>
          </a:solidFill>
          <a:ln/>
        </p:spPr>
      </p:sp>
      <p:sp>
        <p:nvSpPr>
          <p:cNvPr id="16" name="Text 12"/>
          <p:cNvSpPr/>
          <p:nvPr/>
        </p:nvSpPr>
        <p:spPr>
          <a:xfrm>
            <a:off x="0" y="6446520"/>
            <a:ext cx="12188952" cy="320040"/>
          </a:xfrm>
          <a:prstGeom prst="rect">
            <a:avLst/>
          </a:prstGeom>
          <a:noFill/>
          <a:ln/>
        </p:spPr>
        <p:txBody>
          <a:bodyPr wrap="square" rtlCol="0" anchor="ctr"/>
          <a:lstStyle/>
          <a:p>
            <a:pPr algn="ctr" indent="0" marL="0">
              <a:buNone/>
            </a:pPr>
            <a:r>
              <a:rPr lang="en-US" sz="1100" b="1" dirty="0">
                <a:solidFill>
                  <a:srgbClr val="00F0FF"/>
                </a:solidFill>
                <a:latin typeface="Arial" pitchFamily="34" charset="0"/>
                <a:ea typeface="Arial" pitchFamily="34" charset="-122"/>
                <a:cs typeface="Arial" pitchFamily="34" charset="-120"/>
              </a:rPr>
              <a:t>Global Vision    |    Innovative Solutions    |    Financial Freedom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ABOUT GLOBAL FINANCE</a:t>
            </a:r>
            <a:endParaRPr lang="en-US" sz="2200" dirty="0"/>
          </a:p>
        </p:txBody>
      </p:sp>
      <p:sp>
        <p:nvSpPr>
          <p:cNvPr id="8" name="Shape 5"/>
          <p:cNvSpPr/>
          <p:nvPr/>
        </p:nvSpPr>
        <p:spPr>
          <a:xfrm>
            <a:off x="0" y="6446520"/>
            <a:ext cx="9144000" cy="411480"/>
          </a:xfrm>
          <a:prstGeom prst="rect">
            <a:avLst/>
          </a:prstGeom>
          <a:solidFill>
            <a:srgbClr val="0A142F"/>
          </a:solidFill>
          <a:ln w="12700">
            <a:solidFill>
              <a:srgbClr val="1E293B"/>
            </a:solidFill>
            <a:prstDash val="solid"/>
          </a:ln>
        </p:spPr>
      </p:sp>
      <p:sp>
        <p:nvSpPr>
          <p:cNvPr id="9" name="Text 6"/>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0" name="Text 7"/>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2 of 15</a:t>
            </a:r>
            <a:endParaRPr lang="en-US" sz="900" dirty="0"/>
          </a:p>
        </p:txBody>
      </p:sp>
      <p:sp>
        <p:nvSpPr>
          <p:cNvPr id="11" name="Shape 8"/>
          <p:cNvSpPr/>
          <p:nvPr/>
        </p:nvSpPr>
        <p:spPr>
          <a:xfrm>
            <a:off x="731520" y="1554480"/>
            <a:ext cx="10725912" cy="914400"/>
          </a:xfrm>
          <a:prstGeom prst="roundRect">
            <a:avLst/>
          </a:prstGeom>
          <a:solidFill>
            <a:srgbClr val="0E1A38"/>
          </a:solidFill>
          <a:ln w="19050">
            <a:solidFill>
              <a:srgbClr val="00F0FF"/>
            </a:solidFill>
            <a:prstDash val="solid"/>
          </a:ln>
        </p:spPr>
      </p:sp>
      <p:sp>
        <p:nvSpPr>
          <p:cNvPr id="12" name="Text 9"/>
          <p:cNvSpPr/>
          <p:nvPr/>
        </p:nvSpPr>
        <p:spPr>
          <a:xfrm>
            <a:off x="1005840" y="1691640"/>
            <a:ext cx="10177272" cy="6400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GLOBAL FINANCE is built to bring people, digital technology and modern financial opportunities together through a clear and accessible digital platform.</a:t>
            </a:r>
            <a:endParaRPr lang="en-US" sz="1500" dirty="0"/>
          </a:p>
        </p:txBody>
      </p:sp>
      <p:sp>
        <p:nvSpPr>
          <p:cNvPr id="13" name="Shape 10"/>
          <p:cNvSpPr/>
          <p:nvPr/>
        </p:nvSpPr>
        <p:spPr>
          <a:xfrm>
            <a:off x="731520" y="2697480"/>
            <a:ext cx="2560320" cy="3383280"/>
          </a:xfrm>
          <a:prstGeom prst="roundRect">
            <a:avLst/>
          </a:prstGeom>
          <a:solidFill>
            <a:srgbClr val="0E1A38"/>
          </a:solidFill>
          <a:ln w="19050">
            <a:solidFill>
              <a:srgbClr val="F59E0B"/>
            </a:solidFill>
            <a:prstDash val="solid"/>
          </a:ln>
        </p:spPr>
      </p:sp>
      <p:sp>
        <p:nvSpPr>
          <p:cNvPr id="14" name="Text 11"/>
          <p:cNvSpPr/>
          <p:nvPr/>
        </p:nvSpPr>
        <p:spPr>
          <a:xfrm>
            <a:off x="868680" y="2880360"/>
            <a:ext cx="2286000" cy="548640"/>
          </a:xfrm>
          <a:prstGeom prst="rect">
            <a:avLst/>
          </a:prstGeom>
          <a:noFill/>
          <a:ln/>
        </p:spPr>
        <p:txBody>
          <a:bodyPr wrap="square" rtlCol="0" anchor="ctr"/>
          <a:lstStyle/>
          <a:p>
            <a:pPr algn="ctr" indent="0" marL="0">
              <a:buNone/>
            </a:pPr>
            <a:r>
              <a:rPr lang="en-US" sz="1300" b="1" dirty="0">
                <a:solidFill>
                  <a:srgbClr val="F59E0B"/>
                </a:solidFill>
                <a:latin typeface="Arial" pitchFamily="34" charset="0"/>
                <a:ea typeface="Arial" pitchFamily="34" charset="-122"/>
                <a:cs typeface="Arial" pitchFamily="34" charset="-120"/>
              </a:rPr>
              <a:t>GLOBAL VISION</a:t>
            </a:r>
            <a:endParaRPr lang="en-US" sz="1300" dirty="0"/>
          </a:p>
        </p:txBody>
      </p:sp>
      <p:sp>
        <p:nvSpPr>
          <p:cNvPr id="15" name="Text 12"/>
          <p:cNvSpPr/>
          <p:nvPr/>
        </p:nvSpPr>
        <p:spPr>
          <a:xfrm>
            <a:off x="914400" y="3520440"/>
            <a:ext cx="2194560" cy="2377440"/>
          </a:xfrm>
          <a:prstGeom prst="rect">
            <a:avLst/>
          </a:prstGeom>
          <a:noFill/>
          <a:ln/>
        </p:spPr>
        <p:txBody>
          <a:bodyPr wrap="square" rtlCol="0" anchor="ctr"/>
          <a:lstStyle/>
          <a:p>
            <a:pPr algn="l" indent="0" marL="0">
              <a:buNone/>
            </a:pPr>
            <a:r>
              <a:rPr lang="en-US" sz="1100" dirty="0">
                <a:solidFill>
                  <a:srgbClr val="FFFFFF"/>
                </a:solidFill>
                <a:latin typeface="Arial" pitchFamily="34" charset="0"/>
                <a:ea typeface="Arial" pitchFamily="34" charset="-122"/>
                <a:cs typeface="Arial" pitchFamily="34" charset="-120"/>
              </a:rPr>
              <a:t>Building a connected digital finance ecosystem that breaks geographical barriers and provides accessible wealth management.</a:t>
            </a:r>
            <a:endParaRPr lang="en-US" sz="1100" dirty="0"/>
          </a:p>
        </p:txBody>
      </p:sp>
      <p:sp>
        <p:nvSpPr>
          <p:cNvPr id="16" name="Shape 13"/>
          <p:cNvSpPr/>
          <p:nvPr/>
        </p:nvSpPr>
        <p:spPr>
          <a:xfrm>
            <a:off x="3456432" y="2697480"/>
            <a:ext cx="2560320" cy="3383280"/>
          </a:xfrm>
          <a:prstGeom prst="roundRect">
            <a:avLst/>
          </a:prstGeom>
          <a:solidFill>
            <a:srgbClr val="0E1A38"/>
          </a:solidFill>
          <a:ln w="19050">
            <a:solidFill>
              <a:srgbClr val="00F0FF"/>
            </a:solidFill>
            <a:prstDash val="solid"/>
          </a:ln>
        </p:spPr>
      </p:sp>
      <p:sp>
        <p:nvSpPr>
          <p:cNvPr id="17" name="Text 14"/>
          <p:cNvSpPr/>
          <p:nvPr/>
        </p:nvSpPr>
        <p:spPr>
          <a:xfrm>
            <a:off x="3593592" y="2880360"/>
            <a:ext cx="2286000" cy="548640"/>
          </a:xfrm>
          <a:prstGeom prst="rect">
            <a:avLst/>
          </a:prstGeom>
          <a:noFill/>
          <a:ln/>
        </p:spPr>
        <p:txBody>
          <a:bodyPr wrap="square" rtlCol="0" anchor="ctr"/>
          <a:lstStyle/>
          <a:p>
            <a:pPr algn="ctr" indent="0" marL="0">
              <a:buNone/>
            </a:pPr>
            <a:r>
              <a:rPr lang="en-US" sz="1300" b="1" dirty="0">
                <a:solidFill>
                  <a:srgbClr val="00F0FF"/>
                </a:solidFill>
                <a:latin typeface="Arial" pitchFamily="34" charset="0"/>
                <a:ea typeface="Arial" pitchFamily="34" charset="-122"/>
                <a:cs typeface="Arial" pitchFamily="34" charset="-120"/>
              </a:rPr>
              <a:t>DIGITAL INNOVATION</a:t>
            </a:r>
            <a:endParaRPr lang="en-US" sz="1300" dirty="0"/>
          </a:p>
        </p:txBody>
      </p:sp>
      <p:sp>
        <p:nvSpPr>
          <p:cNvPr id="18" name="Text 15"/>
          <p:cNvSpPr/>
          <p:nvPr/>
        </p:nvSpPr>
        <p:spPr>
          <a:xfrm>
            <a:off x="3639312" y="3520440"/>
            <a:ext cx="2194560" cy="2377440"/>
          </a:xfrm>
          <a:prstGeom prst="rect">
            <a:avLst/>
          </a:prstGeom>
          <a:noFill/>
          <a:ln/>
        </p:spPr>
        <p:txBody>
          <a:bodyPr wrap="square" rtlCol="0" anchor="ctr"/>
          <a:lstStyle/>
          <a:p>
            <a:pPr algn="l" indent="0" marL="0">
              <a:buNone/>
            </a:pPr>
            <a:r>
              <a:rPr lang="en-US" sz="1100" dirty="0">
                <a:solidFill>
                  <a:srgbClr val="FFFFFF"/>
                </a:solidFill>
                <a:latin typeface="Arial" pitchFamily="34" charset="0"/>
                <a:ea typeface="Arial" pitchFamily="34" charset="-122"/>
                <a:cs typeface="Arial" pitchFamily="34" charset="-120"/>
              </a:rPr>
              <a:t>Using cutting-edge blockchain technology to create simple, lightning-fast and modern financial experiences.</a:t>
            </a:r>
            <a:endParaRPr lang="en-US" sz="1100" dirty="0"/>
          </a:p>
        </p:txBody>
      </p:sp>
      <p:sp>
        <p:nvSpPr>
          <p:cNvPr id="19" name="Shape 16"/>
          <p:cNvSpPr/>
          <p:nvPr/>
        </p:nvSpPr>
        <p:spPr>
          <a:xfrm>
            <a:off x="6181344" y="2697480"/>
            <a:ext cx="2560320" cy="3383280"/>
          </a:xfrm>
          <a:prstGeom prst="roundRect">
            <a:avLst/>
          </a:prstGeom>
          <a:solidFill>
            <a:srgbClr val="0E1A38"/>
          </a:solidFill>
          <a:ln w="19050">
            <a:solidFill>
              <a:srgbClr val="F59E0B"/>
            </a:solidFill>
            <a:prstDash val="solid"/>
          </a:ln>
        </p:spPr>
      </p:sp>
      <p:sp>
        <p:nvSpPr>
          <p:cNvPr id="20" name="Text 17"/>
          <p:cNvSpPr/>
          <p:nvPr/>
        </p:nvSpPr>
        <p:spPr>
          <a:xfrm>
            <a:off x="6318504" y="2880360"/>
            <a:ext cx="2286000" cy="548640"/>
          </a:xfrm>
          <a:prstGeom prst="rect">
            <a:avLst/>
          </a:prstGeom>
          <a:noFill/>
          <a:ln/>
        </p:spPr>
        <p:txBody>
          <a:bodyPr wrap="square" rtlCol="0" anchor="ctr"/>
          <a:lstStyle/>
          <a:p>
            <a:pPr algn="ctr" indent="0" marL="0">
              <a:buNone/>
            </a:pPr>
            <a:r>
              <a:rPr lang="en-US" sz="1300" b="1" dirty="0">
                <a:solidFill>
                  <a:srgbClr val="F59E0B"/>
                </a:solidFill>
                <a:latin typeface="Arial" pitchFamily="34" charset="0"/>
                <a:ea typeface="Arial" pitchFamily="34" charset="-122"/>
                <a:cs typeface="Arial" pitchFamily="34" charset="-120"/>
              </a:rPr>
              <a:t>PEOPLE &amp; COMMUNITY</a:t>
            </a:r>
            <a:endParaRPr lang="en-US" sz="1300" dirty="0"/>
          </a:p>
        </p:txBody>
      </p:sp>
      <p:sp>
        <p:nvSpPr>
          <p:cNvPr id="21" name="Text 18"/>
          <p:cNvSpPr/>
          <p:nvPr/>
        </p:nvSpPr>
        <p:spPr>
          <a:xfrm>
            <a:off x="6364224" y="3520440"/>
            <a:ext cx="2194560" cy="2377440"/>
          </a:xfrm>
          <a:prstGeom prst="rect">
            <a:avLst/>
          </a:prstGeom>
          <a:noFill/>
          <a:ln/>
        </p:spPr>
        <p:txBody>
          <a:bodyPr wrap="square" rtlCol="0" anchor="ctr"/>
          <a:lstStyle/>
          <a:p>
            <a:pPr algn="l" indent="0" marL="0">
              <a:buNone/>
            </a:pPr>
            <a:r>
              <a:rPr lang="en-US" sz="1100" dirty="0">
                <a:solidFill>
                  <a:srgbClr val="FFFFFF"/>
                </a:solidFill>
                <a:latin typeface="Arial" pitchFamily="34" charset="0"/>
                <a:ea typeface="Arial" pitchFamily="34" charset="-122"/>
                <a:cs typeface="Arial" pitchFamily="34" charset="-120"/>
              </a:rPr>
              <a:t>Creating fair opportunities for participation, collective connection and generational financial growth.</a:t>
            </a:r>
            <a:endParaRPr lang="en-US" sz="1100" dirty="0"/>
          </a:p>
        </p:txBody>
      </p:sp>
      <p:sp>
        <p:nvSpPr>
          <p:cNvPr id="22" name="Shape 19"/>
          <p:cNvSpPr/>
          <p:nvPr/>
        </p:nvSpPr>
        <p:spPr>
          <a:xfrm>
            <a:off x="8906256" y="2697480"/>
            <a:ext cx="2560320" cy="3383280"/>
          </a:xfrm>
          <a:prstGeom prst="roundRect">
            <a:avLst/>
          </a:prstGeom>
          <a:solidFill>
            <a:srgbClr val="0E1A38"/>
          </a:solidFill>
          <a:ln w="19050">
            <a:solidFill>
              <a:srgbClr val="00F0FF"/>
            </a:solidFill>
            <a:prstDash val="solid"/>
          </a:ln>
        </p:spPr>
      </p:sp>
      <p:sp>
        <p:nvSpPr>
          <p:cNvPr id="23" name="Text 20"/>
          <p:cNvSpPr/>
          <p:nvPr/>
        </p:nvSpPr>
        <p:spPr>
          <a:xfrm>
            <a:off x="9043416" y="2880360"/>
            <a:ext cx="2286000" cy="548640"/>
          </a:xfrm>
          <a:prstGeom prst="rect">
            <a:avLst/>
          </a:prstGeom>
          <a:noFill/>
          <a:ln/>
        </p:spPr>
        <p:txBody>
          <a:bodyPr wrap="square" rtlCol="0" anchor="ctr"/>
          <a:lstStyle/>
          <a:p>
            <a:pPr algn="ctr" indent="0" marL="0">
              <a:buNone/>
            </a:pPr>
            <a:r>
              <a:rPr lang="en-US" sz="1300" b="1" dirty="0">
                <a:solidFill>
                  <a:srgbClr val="00F0FF"/>
                </a:solidFill>
                <a:latin typeface="Arial" pitchFamily="34" charset="0"/>
                <a:ea typeface="Arial" pitchFamily="34" charset="-122"/>
                <a:cs typeface="Arial" pitchFamily="34" charset="-120"/>
              </a:rPr>
              <a:t>TRUST &amp; SECURITY</a:t>
            </a:r>
            <a:endParaRPr lang="en-US" sz="1300" dirty="0"/>
          </a:p>
        </p:txBody>
      </p:sp>
      <p:sp>
        <p:nvSpPr>
          <p:cNvPr id="24" name="Text 21"/>
          <p:cNvSpPr/>
          <p:nvPr/>
        </p:nvSpPr>
        <p:spPr>
          <a:xfrm>
            <a:off x="9089136" y="3520440"/>
            <a:ext cx="2194560" cy="2377440"/>
          </a:xfrm>
          <a:prstGeom prst="rect">
            <a:avLst/>
          </a:prstGeom>
          <a:noFill/>
          <a:ln/>
        </p:spPr>
        <p:txBody>
          <a:bodyPr wrap="square" rtlCol="0" anchor="ctr"/>
          <a:lstStyle/>
          <a:p>
            <a:pPr algn="l" indent="0" marL="0">
              <a:buNone/>
            </a:pPr>
            <a:r>
              <a:rPr lang="en-US" sz="1100" dirty="0">
                <a:solidFill>
                  <a:srgbClr val="FFFFFF"/>
                </a:solidFill>
                <a:latin typeface="Arial" pitchFamily="34" charset="0"/>
                <a:ea typeface="Arial" pitchFamily="34" charset="-122"/>
                <a:cs typeface="Arial" pitchFamily="34" charset="-120"/>
              </a:rPr>
              <a:t>Focusing on institutional-grade transparency, responsible practices, automated smart settlements and user confidence.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OUR COMPANY</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PEOPLE. OPPORTUNITIES. GROWTH. COMMUNITY.</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3 of 15</a:t>
            </a:r>
            <a:endParaRPr lang="en-US" sz="900" dirty="0"/>
          </a:p>
        </p:txBody>
      </p:sp>
      <p:sp>
        <p:nvSpPr>
          <p:cNvPr id="12" name="Shape 9"/>
          <p:cNvSpPr/>
          <p:nvPr/>
        </p:nvSpPr>
        <p:spPr>
          <a:xfrm>
            <a:off x="731520" y="1737360"/>
            <a:ext cx="6858000" cy="3474720"/>
          </a:xfrm>
          <a:prstGeom prst="roundRect">
            <a:avLst/>
          </a:prstGeom>
          <a:solidFill>
            <a:srgbClr val="0E1A38"/>
          </a:solidFill>
          <a:ln w="19050">
            <a:solidFill>
              <a:srgbClr val="1D4ED8"/>
            </a:solidFill>
            <a:prstDash val="solid"/>
          </a:ln>
        </p:spPr>
      </p:sp>
      <p:sp>
        <p:nvSpPr>
          <p:cNvPr id="13" name="Text 10"/>
          <p:cNvSpPr/>
          <p:nvPr/>
        </p:nvSpPr>
        <p:spPr>
          <a:xfrm>
            <a:off x="1005840" y="1920240"/>
            <a:ext cx="6309360" cy="31089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GLOBAL FINANCE is a global opportunity platform headquartered in London, UK, built on the principles of trust, innovation, and sustainable growth.</a:t>
            </a:r>
            <a:endParaRPr lang="en-US" sz="1200" dirty="0"/>
          </a:p>
          <a:p>
            <a:pPr indent="0" marL="0">
              <a:buNone/>
            </a:pPr>
            <a:endParaRPr lang="en-US" sz="1200" dirty="0"/>
          </a:p>
          <a:p>
            <a:pPr indent="0" marL="0">
              <a:buNone/>
            </a:pPr>
            <a:r>
              <a:rPr lang="en-US" sz="1200" dirty="0">
                <a:solidFill>
                  <a:srgbClr val="FFFFFF"/>
                </a:solidFill>
                <a:latin typeface="Arial" pitchFamily="34" charset="0"/>
                <a:ea typeface="Arial" pitchFamily="34" charset="-122"/>
                <a:cs typeface="Arial" pitchFamily="34" charset="-120"/>
              </a:rPr>
              <a:t>We are committed to creating accessible financial opportunities for people worldwide, empowering individuals and communities to achieve a brighter and more secure tomorrow.</a:t>
            </a:r>
            <a:endParaRPr lang="en-US" sz="1200" dirty="0"/>
          </a:p>
          <a:p>
            <a:pPr indent="0" marL="0">
              <a:buNone/>
            </a:pPr>
            <a:endParaRPr lang="en-US" sz="1200" dirty="0"/>
          </a:p>
          <a:p>
            <a:pPr indent="0" marL="0">
              <a:buNone/>
            </a:pPr>
            <a:r>
              <a:rPr lang="en-US" sz="1200" dirty="0">
                <a:solidFill>
                  <a:srgbClr val="FFFFFF"/>
                </a:solidFill>
                <a:latin typeface="Arial" pitchFamily="34" charset="0"/>
                <a:ea typeface="Arial" pitchFamily="34" charset="-122"/>
                <a:cs typeface="Arial" pitchFamily="34" charset="-120"/>
              </a:rPr>
              <a:t>With a strong local presence and an ambitious global vision, GLOBAL FINANCE bridges markets, people, and possibilities — delivering real value through integrity, transparency, and long-term commitment.</a:t>
            </a:r>
            <a:endParaRPr lang="en-US" sz="1200" dirty="0"/>
          </a:p>
        </p:txBody>
      </p:sp>
      <p:sp>
        <p:nvSpPr>
          <p:cNvPr id="14" name="Shape 11"/>
          <p:cNvSpPr/>
          <p:nvPr/>
        </p:nvSpPr>
        <p:spPr>
          <a:xfrm>
            <a:off x="7863840" y="1737360"/>
            <a:ext cx="3566160" cy="3474720"/>
          </a:xfrm>
          <a:prstGeom prst="roundRect">
            <a:avLst/>
          </a:prstGeom>
          <a:solidFill>
            <a:srgbClr val="0F224A"/>
          </a:solidFill>
          <a:ln w="25400">
            <a:solidFill>
              <a:srgbClr val="F59E0B"/>
            </a:solidFill>
            <a:prstDash val="solid"/>
          </a:ln>
        </p:spPr>
      </p:sp>
      <p:sp>
        <p:nvSpPr>
          <p:cNvPr id="15" name="Text 12"/>
          <p:cNvSpPr/>
          <p:nvPr/>
        </p:nvSpPr>
        <p:spPr>
          <a:xfrm>
            <a:off x="8046720" y="2103120"/>
            <a:ext cx="3200400" cy="914400"/>
          </a:xfrm>
          <a:prstGeom prst="rect">
            <a:avLst/>
          </a:prstGeom>
          <a:noFill/>
          <a:ln/>
        </p:spPr>
        <p:txBody>
          <a:bodyPr wrap="square" rtlCol="0" anchor="ctr"/>
          <a:lstStyle/>
          <a:p>
            <a:pPr algn="ctr" indent="0" marL="0">
              <a:buNone/>
            </a:pPr>
            <a:r>
              <a:rPr lang="en-US" sz="1600" b="1" dirty="0">
                <a:solidFill>
                  <a:srgbClr val="F59E0B"/>
                </a:solidFill>
                <a:latin typeface="Arial" pitchFamily="34" charset="0"/>
                <a:ea typeface="Arial" pitchFamily="34" charset="-122"/>
                <a:cs typeface="Arial" pitchFamily="34" charset="-120"/>
              </a:rPr>
              <a:t>“ Together We Build a Brighter Future ”</a:t>
            </a:r>
            <a:endParaRPr lang="en-US" sz="1600" dirty="0"/>
          </a:p>
        </p:txBody>
      </p:sp>
      <p:sp>
        <p:nvSpPr>
          <p:cNvPr id="16" name="Shape 13"/>
          <p:cNvSpPr/>
          <p:nvPr/>
        </p:nvSpPr>
        <p:spPr>
          <a:xfrm>
            <a:off x="8229600" y="3291840"/>
            <a:ext cx="2834640" cy="45720"/>
          </a:xfrm>
          <a:prstGeom prst="rect">
            <a:avLst/>
          </a:prstGeom>
          <a:solidFill>
            <a:srgbClr val="00F0FF"/>
          </a:solidFill>
          <a:ln/>
        </p:spPr>
      </p:sp>
      <p:sp>
        <p:nvSpPr>
          <p:cNvPr id="17" name="Text 14"/>
          <p:cNvSpPr/>
          <p:nvPr/>
        </p:nvSpPr>
        <p:spPr>
          <a:xfrm>
            <a:off x="8046720" y="3566160"/>
            <a:ext cx="3200400" cy="365760"/>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DAVID NIKOLAS</a:t>
            </a:r>
            <a:endParaRPr lang="en-US" sz="1500" dirty="0"/>
          </a:p>
        </p:txBody>
      </p:sp>
      <p:sp>
        <p:nvSpPr>
          <p:cNvPr id="18" name="Text 15"/>
          <p:cNvSpPr/>
          <p:nvPr/>
        </p:nvSpPr>
        <p:spPr>
          <a:xfrm>
            <a:off x="8046720" y="3977640"/>
            <a:ext cx="3200400" cy="548640"/>
          </a:xfrm>
          <a:prstGeom prst="rect">
            <a:avLst/>
          </a:prstGeom>
          <a:noFill/>
          <a:ln/>
        </p:spPr>
        <p:txBody>
          <a:bodyPr wrap="square" rtlCol="0" anchor="ctr"/>
          <a:lstStyle/>
          <a:p>
            <a:pPr algn="ctr" indent="0" marL="0">
              <a:buNone/>
            </a:pPr>
            <a:r>
              <a:rPr lang="en-US" sz="1100" dirty="0">
                <a:solidFill>
                  <a:srgbClr val="00F0FF"/>
                </a:solidFill>
                <a:latin typeface="Arial" pitchFamily="34" charset="0"/>
                <a:ea typeface="Arial" pitchFamily="34" charset="-122"/>
                <a:cs typeface="Arial" pitchFamily="34" charset="-120"/>
              </a:rPr>
              <a:t>HEAD OF DEPARTMENT</a:t>
            </a:r>
            <a:endParaRPr lang="en-US" sz="1100" dirty="0"/>
          </a:p>
          <a:p>
            <a:pPr algn="ctr" indent="0" marL="0">
              <a:buNone/>
            </a:pPr>
            <a:r>
              <a:rPr lang="en-US" sz="1100" dirty="0">
                <a:solidFill>
                  <a:srgbClr val="00F0FF"/>
                </a:solidFill>
                <a:latin typeface="Arial" pitchFamily="34" charset="0"/>
                <a:ea typeface="Arial" pitchFamily="34" charset="-122"/>
                <a:cs typeface="Arial" pitchFamily="34" charset="-120"/>
              </a:rPr>
              <a:t>GLOBAL FINANCE UK</a:t>
            </a:r>
            <a:endParaRPr lang="en-US" sz="1100" dirty="0"/>
          </a:p>
        </p:txBody>
      </p:sp>
      <p:sp>
        <p:nvSpPr>
          <p:cNvPr id="19" name="Shape 16"/>
          <p:cNvSpPr/>
          <p:nvPr/>
        </p:nvSpPr>
        <p:spPr>
          <a:xfrm>
            <a:off x="731520" y="5394960"/>
            <a:ext cx="2560320" cy="822960"/>
          </a:xfrm>
          <a:prstGeom prst="roundRect">
            <a:avLst/>
          </a:prstGeom>
          <a:solidFill>
            <a:srgbClr val="0E1A38"/>
          </a:solidFill>
          <a:ln w="12700">
            <a:solidFill>
              <a:srgbClr val="F59E0B"/>
            </a:solidFill>
            <a:prstDash val="solid"/>
          </a:ln>
        </p:spPr>
      </p:sp>
      <p:sp>
        <p:nvSpPr>
          <p:cNvPr id="20" name="Text 17"/>
          <p:cNvSpPr/>
          <p:nvPr/>
        </p:nvSpPr>
        <p:spPr>
          <a:xfrm>
            <a:off x="731520" y="5468112"/>
            <a:ext cx="2560320" cy="6858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PEOPLE</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Empowering Individuals</a:t>
            </a:r>
            <a:endParaRPr lang="en-US" sz="1000" dirty="0"/>
          </a:p>
        </p:txBody>
      </p:sp>
      <p:sp>
        <p:nvSpPr>
          <p:cNvPr id="21" name="Shape 18"/>
          <p:cNvSpPr/>
          <p:nvPr/>
        </p:nvSpPr>
        <p:spPr>
          <a:xfrm>
            <a:off x="3456432" y="5394960"/>
            <a:ext cx="2560320" cy="822960"/>
          </a:xfrm>
          <a:prstGeom prst="roundRect">
            <a:avLst/>
          </a:prstGeom>
          <a:solidFill>
            <a:srgbClr val="0E1A38"/>
          </a:solidFill>
          <a:ln w="12700">
            <a:solidFill>
              <a:srgbClr val="F59E0B"/>
            </a:solidFill>
            <a:prstDash val="solid"/>
          </a:ln>
        </p:spPr>
      </p:sp>
      <p:sp>
        <p:nvSpPr>
          <p:cNvPr id="22" name="Text 19"/>
          <p:cNvSpPr/>
          <p:nvPr/>
        </p:nvSpPr>
        <p:spPr>
          <a:xfrm>
            <a:off x="3456432" y="5468112"/>
            <a:ext cx="2560320" cy="6858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OPPORTUNITIES</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Creating New Possibilities</a:t>
            </a:r>
            <a:endParaRPr lang="en-US" sz="1000" dirty="0"/>
          </a:p>
        </p:txBody>
      </p:sp>
      <p:sp>
        <p:nvSpPr>
          <p:cNvPr id="23" name="Shape 20"/>
          <p:cNvSpPr/>
          <p:nvPr/>
        </p:nvSpPr>
        <p:spPr>
          <a:xfrm>
            <a:off x="6181344" y="5394960"/>
            <a:ext cx="2560320" cy="822960"/>
          </a:xfrm>
          <a:prstGeom prst="roundRect">
            <a:avLst/>
          </a:prstGeom>
          <a:solidFill>
            <a:srgbClr val="0E1A38"/>
          </a:solidFill>
          <a:ln w="12700">
            <a:solidFill>
              <a:srgbClr val="F59E0B"/>
            </a:solidFill>
            <a:prstDash val="solid"/>
          </a:ln>
        </p:spPr>
      </p:sp>
      <p:sp>
        <p:nvSpPr>
          <p:cNvPr id="24" name="Text 21"/>
          <p:cNvSpPr/>
          <p:nvPr/>
        </p:nvSpPr>
        <p:spPr>
          <a:xfrm>
            <a:off x="6181344" y="5468112"/>
            <a:ext cx="2560320" cy="6858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GROWTH</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Building a Better Tomorrow</a:t>
            </a:r>
            <a:endParaRPr lang="en-US" sz="1000" dirty="0"/>
          </a:p>
        </p:txBody>
      </p:sp>
      <p:sp>
        <p:nvSpPr>
          <p:cNvPr id="25" name="Shape 22"/>
          <p:cNvSpPr/>
          <p:nvPr/>
        </p:nvSpPr>
        <p:spPr>
          <a:xfrm>
            <a:off x="8906256" y="5394960"/>
            <a:ext cx="2560320" cy="822960"/>
          </a:xfrm>
          <a:prstGeom prst="roundRect">
            <a:avLst/>
          </a:prstGeom>
          <a:solidFill>
            <a:srgbClr val="0E1A38"/>
          </a:solidFill>
          <a:ln w="12700">
            <a:solidFill>
              <a:srgbClr val="F59E0B"/>
            </a:solidFill>
            <a:prstDash val="solid"/>
          </a:ln>
        </p:spPr>
      </p:sp>
      <p:sp>
        <p:nvSpPr>
          <p:cNvPr id="26" name="Text 23"/>
          <p:cNvSpPr/>
          <p:nvPr/>
        </p:nvSpPr>
        <p:spPr>
          <a:xfrm>
            <a:off x="8906256" y="5468112"/>
            <a:ext cx="2560320" cy="6858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COMMUNITY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Stronger Together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OUR VISION &amp; MISSION</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Strategic Direction &amp; Core Purpose</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4 of 15</a:t>
            </a:r>
            <a:endParaRPr lang="en-US" sz="900" dirty="0"/>
          </a:p>
        </p:txBody>
      </p:sp>
      <p:sp>
        <p:nvSpPr>
          <p:cNvPr id="12" name="Shape 9"/>
          <p:cNvSpPr/>
          <p:nvPr/>
        </p:nvSpPr>
        <p:spPr>
          <a:xfrm>
            <a:off x="731520" y="1737360"/>
            <a:ext cx="5212080" cy="4206240"/>
          </a:xfrm>
          <a:prstGeom prst="roundRect">
            <a:avLst/>
          </a:prstGeom>
          <a:solidFill>
            <a:srgbClr val="0E1A38"/>
          </a:solidFill>
          <a:ln w="25400">
            <a:solidFill>
              <a:srgbClr val="F59E0B"/>
            </a:solidFill>
            <a:prstDash val="solid"/>
          </a:ln>
        </p:spPr>
      </p:sp>
      <p:sp>
        <p:nvSpPr>
          <p:cNvPr id="13" name="Text 10"/>
          <p:cNvSpPr/>
          <p:nvPr/>
        </p:nvSpPr>
        <p:spPr>
          <a:xfrm>
            <a:off x="1005840" y="1920240"/>
            <a:ext cx="4663440" cy="457200"/>
          </a:xfrm>
          <a:prstGeom prst="rect">
            <a:avLst/>
          </a:prstGeom>
          <a:noFill/>
          <a:ln/>
        </p:spPr>
        <p:txBody>
          <a:bodyPr wrap="square" rtlCol="0" anchor="ctr"/>
          <a:lstStyle/>
          <a:p>
            <a:pPr indent="0" marL="0">
              <a:buNone/>
            </a:pPr>
            <a:r>
              <a:rPr lang="en-US" sz="1800" b="1" dirty="0">
                <a:solidFill>
                  <a:srgbClr val="F59E0B"/>
                </a:solidFill>
                <a:latin typeface="Arial" pitchFamily="34" charset="0"/>
                <a:ea typeface="Arial" pitchFamily="34" charset="-122"/>
                <a:cs typeface="Arial" pitchFamily="34" charset="-120"/>
              </a:rPr>
              <a:t>OUR VISION</a:t>
            </a:r>
            <a:endParaRPr lang="en-US" sz="1800" dirty="0"/>
          </a:p>
        </p:txBody>
      </p:sp>
      <p:sp>
        <p:nvSpPr>
          <p:cNvPr id="14" name="Text 11"/>
          <p:cNvSpPr/>
          <p:nvPr/>
        </p:nvSpPr>
        <p:spPr>
          <a:xfrm>
            <a:off x="1005840" y="2468880"/>
            <a:ext cx="4663440" cy="3291840"/>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Our vision is to build a trusted and innovative digital finance platform that delivers simple, transparent, and technology-driven USDT-based financial solutions.</a:t>
            </a:r>
            <a:endParaRPr lang="en-US" sz="1150" dirty="0"/>
          </a:p>
          <a:p>
            <a:pPr indent="0" marL="0">
              <a:buNone/>
            </a:pP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 We aim to create a global digital ecosystem where users can manage their digital assets with greater convenience, clarity, and confidence.</a:t>
            </a:r>
            <a:endParaRPr lang="en-US" sz="1150" dirty="0"/>
          </a:p>
          <a:p>
            <a:pPr indent="0" marL="0">
              <a:buNone/>
            </a:pP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 By embracing innovation, responsible practices, and continuous improvement, we aspire to contribute meaningfully to the evolving future of decentralized finance.</a:t>
            </a:r>
            <a:endParaRPr lang="en-US" sz="1150" dirty="0"/>
          </a:p>
        </p:txBody>
      </p:sp>
      <p:sp>
        <p:nvSpPr>
          <p:cNvPr id="15" name="Shape 12"/>
          <p:cNvSpPr/>
          <p:nvPr/>
        </p:nvSpPr>
        <p:spPr>
          <a:xfrm>
            <a:off x="6217920" y="1737360"/>
            <a:ext cx="5212080" cy="4206240"/>
          </a:xfrm>
          <a:prstGeom prst="roundRect">
            <a:avLst/>
          </a:prstGeom>
          <a:solidFill>
            <a:srgbClr val="0E1A38"/>
          </a:solidFill>
          <a:ln w="25400">
            <a:solidFill>
              <a:srgbClr val="00F0FF"/>
            </a:solidFill>
            <a:prstDash val="solid"/>
          </a:ln>
        </p:spPr>
      </p:sp>
      <p:sp>
        <p:nvSpPr>
          <p:cNvPr id="16" name="Text 13"/>
          <p:cNvSpPr/>
          <p:nvPr/>
        </p:nvSpPr>
        <p:spPr>
          <a:xfrm>
            <a:off x="6492240" y="1920240"/>
            <a:ext cx="4663440" cy="457200"/>
          </a:xfrm>
          <a:prstGeom prst="rect">
            <a:avLst/>
          </a:prstGeom>
          <a:noFill/>
          <a:ln/>
        </p:spPr>
        <p:txBody>
          <a:bodyPr wrap="square" rtlCol="0" anchor="ctr"/>
          <a:lstStyle/>
          <a:p>
            <a:pPr indent="0" marL="0">
              <a:buNone/>
            </a:pPr>
            <a:r>
              <a:rPr lang="en-US" sz="1800" b="1" dirty="0">
                <a:solidFill>
                  <a:srgbClr val="00F0FF"/>
                </a:solidFill>
                <a:latin typeface="Arial" pitchFamily="34" charset="0"/>
                <a:ea typeface="Arial" pitchFamily="34" charset="-122"/>
                <a:cs typeface="Arial" pitchFamily="34" charset="-120"/>
              </a:rPr>
              <a:t>OUR MISSION</a:t>
            </a:r>
            <a:endParaRPr lang="en-US" sz="1800" dirty="0"/>
          </a:p>
        </p:txBody>
      </p:sp>
      <p:sp>
        <p:nvSpPr>
          <p:cNvPr id="17" name="Text 14"/>
          <p:cNvSpPr/>
          <p:nvPr/>
        </p:nvSpPr>
        <p:spPr>
          <a:xfrm>
            <a:off x="6492240" y="2468880"/>
            <a:ext cx="4663440" cy="3291840"/>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Our mission is to make digital finance simple, accessible, and transparent through innovative USDT-based financial solutions.</a:t>
            </a:r>
            <a:endParaRPr lang="en-US" sz="1150" dirty="0"/>
          </a:p>
          <a:p>
            <a:pPr indent="0" marL="0">
              <a:buNone/>
            </a:pP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 We strive to create a user-friendly digital ecosystem that enables users to manage their digital assets with confidence and ease.</a:t>
            </a:r>
            <a:endParaRPr lang="en-US" sz="1150" dirty="0"/>
          </a:p>
          <a:p>
            <a:pPr indent="0" marL="0">
              <a:buNone/>
            </a:pP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 Through technology, innovation, and responsible growth, we are committed to continuously improving the digital finance user experience.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TYPES OF INCOMES</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7 Multi-Dimensional Streams of Financial Reward in USDT</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5 of 15</a:t>
            </a:r>
            <a:endParaRPr lang="en-US" sz="900" dirty="0"/>
          </a:p>
        </p:txBody>
      </p:sp>
      <p:sp>
        <p:nvSpPr>
          <p:cNvPr id="12" name="Shape 9"/>
          <p:cNvSpPr/>
          <p:nvPr/>
        </p:nvSpPr>
        <p:spPr>
          <a:xfrm>
            <a:off x="731520" y="1783080"/>
            <a:ext cx="10725912" cy="548640"/>
          </a:xfrm>
          <a:prstGeom prst="roundRect">
            <a:avLst/>
          </a:prstGeom>
          <a:solidFill>
            <a:srgbClr val="0E1A38"/>
          </a:solidFill>
          <a:ln w="19050">
            <a:solidFill>
              <a:srgbClr val="1D4ED8"/>
            </a:solidFill>
            <a:prstDash val="solid"/>
          </a:ln>
        </p:spPr>
      </p:sp>
      <p:sp>
        <p:nvSpPr>
          <p:cNvPr id="13" name="Shape 10"/>
          <p:cNvSpPr/>
          <p:nvPr/>
        </p:nvSpPr>
        <p:spPr>
          <a:xfrm>
            <a:off x="914400" y="1856232"/>
            <a:ext cx="640080" cy="402336"/>
          </a:xfrm>
          <a:prstGeom prst="roundRect">
            <a:avLst/>
          </a:prstGeom>
          <a:solidFill>
            <a:srgbClr val="F59E0B"/>
          </a:solidFill>
          <a:ln/>
        </p:spPr>
      </p:sp>
      <p:sp>
        <p:nvSpPr>
          <p:cNvPr id="14" name="Text 11"/>
          <p:cNvSpPr/>
          <p:nvPr/>
        </p:nvSpPr>
        <p:spPr>
          <a:xfrm>
            <a:off x="914400" y="187452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01</a:t>
            </a:r>
            <a:endParaRPr lang="en-US" sz="1200" dirty="0"/>
          </a:p>
        </p:txBody>
      </p:sp>
      <p:sp>
        <p:nvSpPr>
          <p:cNvPr id="15" name="Text 12"/>
          <p:cNvSpPr/>
          <p:nvPr/>
        </p:nvSpPr>
        <p:spPr>
          <a:xfrm>
            <a:off x="1737360" y="189280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REFERRAL INCOME</a:t>
            </a:r>
            <a:endParaRPr lang="en-US" sz="1300" dirty="0"/>
          </a:p>
        </p:txBody>
      </p:sp>
      <p:sp>
        <p:nvSpPr>
          <p:cNvPr id="16" name="Text 13"/>
          <p:cNvSpPr/>
          <p:nvPr/>
        </p:nvSpPr>
        <p:spPr>
          <a:xfrm>
            <a:off x="6309360" y="189280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10% Direct Commission</a:t>
            </a:r>
            <a:endParaRPr lang="en-US" sz="1200" dirty="0"/>
          </a:p>
        </p:txBody>
      </p:sp>
      <p:sp>
        <p:nvSpPr>
          <p:cNvPr id="17" name="Shape 14"/>
          <p:cNvSpPr/>
          <p:nvPr/>
        </p:nvSpPr>
        <p:spPr>
          <a:xfrm>
            <a:off x="731520" y="2423160"/>
            <a:ext cx="10725912" cy="548640"/>
          </a:xfrm>
          <a:prstGeom prst="roundRect">
            <a:avLst/>
          </a:prstGeom>
          <a:solidFill>
            <a:srgbClr val="0E1A38"/>
          </a:solidFill>
          <a:ln w="19050">
            <a:solidFill>
              <a:srgbClr val="1D4ED8"/>
            </a:solidFill>
            <a:prstDash val="solid"/>
          </a:ln>
        </p:spPr>
      </p:sp>
      <p:sp>
        <p:nvSpPr>
          <p:cNvPr id="18" name="Shape 15"/>
          <p:cNvSpPr/>
          <p:nvPr/>
        </p:nvSpPr>
        <p:spPr>
          <a:xfrm>
            <a:off x="914400" y="2496312"/>
            <a:ext cx="640080" cy="402336"/>
          </a:xfrm>
          <a:prstGeom prst="roundRect">
            <a:avLst/>
          </a:prstGeom>
          <a:solidFill>
            <a:srgbClr val="F59E0B"/>
          </a:solidFill>
          <a:ln/>
        </p:spPr>
      </p:sp>
      <p:sp>
        <p:nvSpPr>
          <p:cNvPr id="19" name="Text 16"/>
          <p:cNvSpPr/>
          <p:nvPr/>
        </p:nvSpPr>
        <p:spPr>
          <a:xfrm>
            <a:off x="914400" y="251460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02</a:t>
            </a:r>
            <a:endParaRPr lang="en-US" sz="1200" dirty="0"/>
          </a:p>
        </p:txBody>
      </p:sp>
      <p:sp>
        <p:nvSpPr>
          <p:cNvPr id="20" name="Text 17"/>
          <p:cNvSpPr/>
          <p:nvPr/>
        </p:nvSpPr>
        <p:spPr>
          <a:xfrm>
            <a:off x="1737360" y="253288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LEVEL INCOME</a:t>
            </a:r>
            <a:endParaRPr lang="en-US" sz="1300" dirty="0"/>
          </a:p>
        </p:txBody>
      </p:sp>
      <p:sp>
        <p:nvSpPr>
          <p:cNvPr id="21" name="Text 18"/>
          <p:cNvSpPr/>
          <p:nvPr/>
        </p:nvSpPr>
        <p:spPr>
          <a:xfrm>
            <a:off x="6309360" y="253288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0.25% across Levels 2 to 12</a:t>
            </a:r>
            <a:endParaRPr lang="en-US" sz="1200" dirty="0"/>
          </a:p>
        </p:txBody>
      </p:sp>
      <p:sp>
        <p:nvSpPr>
          <p:cNvPr id="22" name="Shape 19"/>
          <p:cNvSpPr/>
          <p:nvPr/>
        </p:nvSpPr>
        <p:spPr>
          <a:xfrm>
            <a:off x="731520" y="3063240"/>
            <a:ext cx="10725912" cy="548640"/>
          </a:xfrm>
          <a:prstGeom prst="roundRect">
            <a:avLst/>
          </a:prstGeom>
          <a:solidFill>
            <a:srgbClr val="0E1A38"/>
          </a:solidFill>
          <a:ln w="19050">
            <a:solidFill>
              <a:srgbClr val="F59E0B"/>
            </a:solidFill>
            <a:prstDash val="solid"/>
          </a:ln>
        </p:spPr>
      </p:sp>
      <p:sp>
        <p:nvSpPr>
          <p:cNvPr id="23" name="Shape 20"/>
          <p:cNvSpPr/>
          <p:nvPr/>
        </p:nvSpPr>
        <p:spPr>
          <a:xfrm>
            <a:off x="914400" y="3136392"/>
            <a:ext cx="640080" cy="402336"/>
          </a:xfrm>
          <a:prstGeom prst="roundRect">
            <a:avLst/>
          </a:prstGeom>
          <a:solidFill>
            <a:srgbClr val="F59E0B"/>
          </a:solidFill>
          <a:ln/>
        </p:spPr>
      </p:sp>
      <p:sp>
        <p:nvSpPr>
          <p:cNvPr id="24" name="Text 21"/>
          <p:cNvSpPr/>
          <p:nvPr/>
        </p:nvSpPr>
        <p:spPr>
          <a:xfrm>
            <a:off x="914400" y="315468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03</a:t>
            </a:r>
            <a:endParaRPr lang="en-US" sz="1200" dirty="0"/>
          </a:p>
        </p:txBody>
      </p:sp>
      <p:sp>
        <p:nvSpPr>
          <p:cNvPr id="25" name="Text 22"/>
          <p:cNvSpPr/>
          <p:nvPr/>
        </p:nvSpPr>
        <p:spPr>
          <a:xfrm>
            <a:off x="1737360" y="317296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DAILY WITHDRAWAL ROI INCOME</a:t>
            </a:r>
            <a:endParaRPr lang="en-US" sz="1300" dirty="0"/>
          </a:p>
        </p:txBody>
      </p:sp>
      <p:sp>
        <p:nvSpPr>
          <p:cNvPr id="26" name="Text 23"/>
          <p:cNvSpPr/>
          <p:nvPr/>
        </p:nvSpPr>
        <p:spPr>
          <a:xfrm>
            <a:off x="6309360" y="317296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5% Daily (1% Profit + 4% Principal, 25-Day Cycle)</a:t>
            </a:r>
            <a:endParaRPr lang="en-US" sz="1200" dirty="0"/>
          </a:p>
        </p:txBody>
      </p:sp>
      <p:sp>
        <p:nvSpPr>
          <p:cNvPr id="27" name="Shape 24"/>
          <p:cNvSpPr/>
          <p:nvPr/>
        </p:nvSpPr>
        <p:spPr>
          <a:xfrm>
            <a:off x="731520" y="3703320"/>
            <a:ext cx="10725912" cy="548640"/>
          </a:xfrm>
          <a:prstGeom prst="roundRect">
            <a:avLst/>
          </a:prstGeom>
          <a:solidFill>
            <a:srgbClr val="0E1A38"/>
          </a:solidFill>
          <a:ln w="19050">
            <a:solidFill>
              <a:srgbClr val="1D4ED8"/>
            </a:solidFill>
            <a:prstDash val="solid"/>
          </a:ln>
        </p:spPr>
      </p:sp>
      <p:sp>
        <p:nvSpPr>
          <p:cNvPr id="28" name="Shape 25"/>
          <p:cNvSpPr/>
          <p:nvPr/>
        </p:nvSpPr>
        <p:spPr>
          <a:xfrm>
            <a:off x="914400" y="3776472"/>
            <a:ext cx="640080" cy="402336"/>
          </a:xfrm>
          <a:prstGeom prst="roundRect">
            <a:avLst/>
          </a:prstGeom>
          <a:solidFill>
            <a:srgbClr val="F59E0B"/>
          </a:solidFill>
          <a:ln/>
        </p:spPr>
      </p:sp>
      <p:sp>
        <p:nvSpPr>
          <p:cNvPr id="29" name="Text 26"/>
          <p:cNvSpPr/>
          <p:nvPr/>
        </p:nvSpPr>
        <p:spPr>
          <a:xfrm>
            <a:off x="914400" y="379476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04</a:t>
            </a:r>
            <a:endParaRPr lang="en-US" sz="1200" dirty="0"/>
          </a:p>
        </p:txBody>
      </p:sp>
      <p:sp>
        <p:nvSpPr>
          <p:cNvPr id="30" name="Text 27"/>
          <p:cNvSpPr/>
          <p:nvPr/>
        </p:nvSpPr>
        <p:spPr>
          <a:xfrm>
            <a:off x="1737360" y="381304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DAILY COMPOUNDING ROI INCOME</a:t>
            </a:r>
            <a:endParaRPr lang="en-US" sz="1300" dirty="0"/>
          </a:p>
        </p:txBody>
      </p:sp>
      <p:sp>
        <p:nvSpPr>
          <p:cNvPr id="31" name="Text 28"/>
          <p:cNvSpPr/>
          <p:nvPr/>
        </p:nvSpPr>
        <p:spPr>
          <a:xfrm>
            <a:off x="6309360" y="381304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25, 50 &amp; 100 Day Exponential Cycles</a:t>
            </a:r>
            <a:endParaRPr lang="en-US" sz="1200" dirty="0"/>
          </a:p>
        </p:txBody>
      </p:sp>
      <p:sp>
        <p:nvSpPr>
          <p:cNvPr id="32" name="Shape 29"/>
          <p:cNvSpPr/>
          <p:nvPr/>
        </p:nvSpPr>
        <p:spPr>
          <a:xfrm>
            <a:off x="731520" y="4343400"/>
            <a:ext cx="10725912" cy="548640"/>
          </a:xfrm>
          <a:prstGeom prst="roundRect">
            <a:avLst/>
          </a:prstGeom>
          <a:solidFill>
            <a:srgbClr val="0E1A38"/>
          </a:solidFill>
          <a:ln w="19050">
            <a:solidFill>
              <a:srgbClr val="1D4ED8"/>
            </a:solidFill>
            <a:prstDash val="solid"/>
          </a:ln>
        </p:spPr>
      </p:sp>
      <p:sp>
        <p:nvSpPr>
          <p:cNvPr id="33" name="Shape 30"/>
          <p:cNvSpPr/>
          <p:nvPr/>
        </p:nvSpPr>
        <p:spPr>
          <a:xfrm>
            <a:off x="914400" y="4416552"/>
            <a:ext cx="640080" cy="402336"/>
          </a:xfrm>
          <a:prstGeom prst="roundRect">
            <a:avLst/>
          </a:prstGeom>
          <a:solidFill>
            <a:srgbClr val="F59E0B"/>
          </a:solidFill>
          <a:ln/>
        </p:spPr>
      </p:sp>
      <p:sp>
        <p:nvSpPr>
          <p:cNvPr id="34" name="Text 31"/>
          <p:cNvSpPr/>
          <p:nvPr/>
        </p:nvSpPr>
        <p:spPr>
          <a:xfrm>
            <a:off x="914400" y="443484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05</a:t>
            </a:r>
            <a:endParaRPr lang="en-US" sz="1200" dirty="0"/>
          </a:p>
        </p:txBody>
      </p:sp>
      <p:sp>
        <p:nvSpPr>
          <p:cNvPr id="35" name="Text 32"/>
          <p:cNvSpPr/>
          <p:nvPr/>
        </p:nvSpPr>
        <p:spPr>
          <a:xfrm>
            <a:off x="1737360" y="445312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ROI ON ROI INCOME</a:t>
            </a:r>
            <a:endParaRPr lang="en-US" sz="1300" dirty="0"/>
          </a:p>
        </p:txBody>
      </p:sp>
      <p:sp>
        <p:nvSpPr>
          <p:cNvPr id="36" name="Text 33"/>
          <p:cNvSpPr/>
          <p:nvPr/>
        </p:nvSpPr>
        <p:spPr>
          <a:xfrm>
            <a:off x="6309360" y="445312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5% Level 1 + 1% Levels 2-12</a:t>
            </a:r>
            <a:endParaRPr lang="en-US" sz="1200" dirty="0"/>
          </a:p>
        </p:txBody>
      </p:sp>
      <p:sp>
        <p:nvSpPr>
          <p:cNvPr id="37" name="Shape 34"/>
          <p:cNvSpPr/>
          <p:nvPr/>
        </p:nvSpPr>
        <p:spPr>
          <a:xfrm>
            <a:off x="731520" y="4983480"/>
            <a:ext cx="10725912" cy="548640"/>
          </a:xfrm>
          <a:prstGeom prst="roundRect">
            <a:avLst/>
          </a:prstGeom>
          <a:solidFill>
            <a:srgbClr val="0E1A38"/>
          </a:solidFill>
          <a:ln w="19050">
            <a:solidFill>
              <a:srgbClr val="1D4ED8"/>
            </a:solidFill>
            <a:prstDash val="solid"/>
          </a:ln>
        </p:spPr>
      </p:sp>
      <p:sp>
        <p:nvSpPr>
          <p:cNvPr id="38" name="Shape 35"/>
          <p:cNvSpPr/>
          <p:nvPr/>
        </p:nvSpPr>
        <p:spPr>
          <a:xfrm>
            <a:off x="914400" y="5056632"/>
            <a:ext cx="640080" cy="402336"/>
          </a:xfrm>
          <a:prstGeom prst="roundRect">
            <a:avLst/>
          </a:prstGeom>
          <a:solidFill>
            <a:srgbClr val="F59E0B"/>
          </a:solidFill>
          <a:ln/>
        </p:spPr>
      </p:sp>
      <p:sp>
        <p:nvSpPr>
          <p:cNvPr id="39" name="Text 36"/>
          <p:cNvSpPr/>
          <p:nvPr/>
        </p:nvSpPr>
        <p:spPr>
          <a:xfrm>
            <a:off x="914400" y="507492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06</a:t>
            </a:r>
            <a:endParaRPr lang="en-US" sz="1200" dirty="0"/>
          </a:p>
        </p:txBody>
      </p:sp>
      <p:sp>
        <p:nvSpPr>
          <p:cNvPr id="40" name="Text 37"/>
          <p:cNvSpPr/>
          <p:nvPr/>
        </p:nvSpPr>
        <p:spPr>
          <a:xfrm>
            <a:off x="1737360" y="509320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FD STAKING INCOME</a:t>
            </a:r>
            <a:endParaRPr lang="en-US" sz="1300" dirty="0"/>
          </a:p>
        </p:txBody>
      </p:sp>
      <p:sp>
        <p:nvSpPr>
          <p:cNvPr id="41" name="Text 38"/>
          <p:cNvSpPr/>
          <p:nvPr/>
        </p:nvSpPr>
        <p:spPr>
          <a:xfrm>
            <a:off x="6309360" y="509320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180-Day (12%) &amp; 240-Day (20%) Plans</a:t>
            </a:r>
            <a:endParaRPr lang="en-US" sz="1200" dirty="0"/>
          </a:p>
        </p:txBody>
      </p:sp>
      <p:sp>
        <p:nvSpPr>
          <p:cNvPr id="42" name="Shape 39"/>
          <p:cNvSpPr/>
          <p:nvPr/>
        </p:nvSpPr>
        <p:spPr>
          <a:xfrm>
            <a:off x="731520" y="5623560"/>
            <a:ext cx="10725912" cy="548640"/>
          </a:xfrm>
          <a:prstGeom prst="roundRect">
            <a:avLst/>
          </a:prstGeom>
          <a:solidFill>
            <a:srgbClr val="0E1A38"/>
          </a:solidFill>
          <a:ln w="19050">
            <a:solidFill>
              <a:srgbClr val="1D4ED8"/>
            </a:solidFill>
            <a:prstDash val="solid"/>
          </a:ln>
        </p:spPr>
      </p:sp>
      <p:sp>
        <p:nvSpPr>
          <p:cNvPr id="43" name="Shape 40"/>
          <p:cNvSpPr/>
          <p:nvPr/>
        </p:nvSpPr>
        <p:spPr>
          <a:xfrm>
            <a:off x="914400" y="5696712"/>
            <a:ext cx="640080" cy="402336"/>
          </a:xfrm>
          <a:prstGeom prst="roundRect">
            <a:avLst/>
          </a:prstGeom>
          <a:solidFill>
            <a:srgbClr val="F59E0B"/>
          </a:solidFill>
          <a:ln/>
        </p:spPr>
      </p:sp>
      <p:sp>
        <p:nvSpPr>
          <p:cNvPr id="44" name="Text 41"/>
          <p:cNvSpPr/>
          <p:nvPr/>
        </p:nvSpPr>
        <p:spPr>
          <a:xfrm>
            <a:off x="914400" y="5715000"/>
            <a:ext cx="6400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07</a:t>
            </a:r>
            <a:endParaRPr lang="en-US" sz="1200" dirty="0"/>
          </a:p>
        </p:txBody>
      </p:sp>
      <p:sp>
        <p:nvSpPr>
          <p:cNvPr id="45" name="Text 42"/>
          <p:cNvSpPr/>
          <p:nvPr/>
        </p:nvSpPr>
        <p:spPr>
          <a:xfrm>
            <a:off x="1737360" y="5733288"/>
            <a:ext cx="4389120" cy="3474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SALARY INCOME</a:t>
            </a:r>
            <a:endParaRPr lang="en-US" sz="1300" dirty="0"/>
          </a:p>
        </p:txBody>
      </p:sp>
      <p:sp>
        <p:nvSpPr>
          <p:cNvPr id="46" name="Text 43"/>
          <p:cNvSpPr/>
          <p:nvPr/>
        </p:nvSpPr>
        <p:spPr>
          <a:xfrm>
            <a:off x="6309360" y="5733288"/>
            <a:ext cx="4937760" cy="347472"/>
          </a:xfrm>
          <a:prstGeom prst="rect">
            <a:avLst/>
          </a:prstGeom>
          <a:noFill/>
          <a:ln/>
        </p:spPr>
        <p:txBody>
          <a:bodyPr wrap="square" rtlCol="0" anchor="ctr"/>
          <a:lstStyle/>
          <a:p>
            <a:pPr algn="r" indent="0" marL="0">
              <a:buNone/>
            </a:pPr>
            <a:r>
              <a:rPr lang="en-US" sz="1200" b="1" dirty="0">
                <a:solidFill>
                  <a:srgbClr val="00F0FF"/>
                </a:solidFill>
                <a:latin typeface="Arial" pitchFamily="34" charset="0"/>
                <a:ea typeface="Arial" pitchFamily="34" charset="-122"/>
                <a:cs typeface="Arial" pitchFamily="34" charset="-120"/>
              </a:rPr>
              <a:t>Lifetime Monthly Salary up to 50,000 USDT/mo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01 REFERRAL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Instant 10% Direct Reward Credited in USDT</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6 of 15</a:t>
            </a:r>
            <a:endParaRPr lang="en-US" sz="900" dirty="0"/>
          </a:p>
        </p:txBody>
      </p:sp>
      <p:sp>
        <p:nvSpPr>
          <p:cNvPr id="12" name="Shape 9"/>
          <p:cNvSpPr/>
          <p:nvPr/>
        </p:nvSpPr>
        <p:spPr>
          <a:xfrm>
            <a:off x="731520" y="1737360"/>
            <a:ext cx="4114800" cy="4389120"/>
          </a:xfrm>
          <a:prstGeom prst="roundRect">
            <a:avLst/>
          </a:prstGeom>
          <a:solidFill>
            <a:srgbClr val="0D2046"/>
          </a:solidFill>
          <a:ln w="31750">
            <a:solidFill>
              <a:srgbClr val="F59E0B"/>
            </a:solidFill>
            <a:prstDash val="solid"/>
          </a:ln>
        </p:spPr>
      </p:sp>
      <p:sp>
        <p:nvSpPr>
          <p:cNvPr id="13" name="Text 10"/>
          <p:cNvSpPr/>
          <p:nvPr/>
        </p:nvSpPr>
        <p:spPr>
          <a:xfrm>
            <a:off x="731520" y="2011680"/>
            <a:ext cx="4114800" cy="1463040"/>
          </a:xfrm>
          <a:prstGeom prst="rect">
            <a:avLst/>
          </a:prstGeom>
          <a:noFill/>
          <a:ln/>
        </p:spPr>
        <p:txBody>
          <a:bodyPr wrap="square" rtlCol="0" anchor="ctr"/>
          <a:lstStyle/>
          <a:p>
            <a:pPr algn="ctr" indent="0" marL="0">
              <a:buNone/>
            </a:pPr>
            <a:r>
              <a:rPr lang="en-US" sz="7200" b="1" dirty="0">
                <a:solidFill>
                  <a:srgbClr val="F59E0B"/>
                </a:solidFill>
                <a:latin typeface="Arial" pitchFamily="34" charset="0"/>
                <a:ea typeface="Arial" pitchFamily="34" charset="-122"/>
                <a:cs typeface="Arial" pitchFamily="34" charset="-120"/>
              </a:rPr>
              <a:t>10%</a:t>
            </a:r>
            <a:endParaRPr lang="en-US" sz="7200" dirty="0"/>
          </a:p>
        </p:txBody>
      </p:sp>
      <p:sp>
        <p:nvSpPr>
          <p:cNvPr id="14" name="Text 11"/>
          <p:cNvSpPr/>
          <p:nvPr/>
        </p:nvSpPr>
        <p:spPr>
          <a:xfrm>
            <a:off x="731520" y="3566160"/>
            <a:ext cx="4114800" cy="9144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REFERRAL INCOME</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EVERY REFERRAL</a:t>
            </a:r>
            <a:endParaRPr lang="en-US" sz="1800" dirty="0"/>
          </a:p>
        </p:txBody>
      </p:sp>
      <p:sp>
        <p:nvSpPr>
          <p:cNvPr id="15" name="Text 12"/>
          <p:cNvSpPr/>
          <p:nvPr/>
        </p:nvSpPr>
        <p:spPr>
          <a:xfrm>
            <a:off x="731520" y="4663440"/>
            <a:ext cx="4114800" cy="457200"/>
          </a:xfrm>
          <a:prstGeom prst="rect">
            <a:avLst/>
          </a:prstGeom>
          <a:noFill/>
          <a:ln/>
        </p:spPr>
        <p:txBody>
          <a:bodyPr wrap="square" rtlCol="0" anchor="ctr"/>
          <a:lstStyle/>
          <a:p>
            <a:pPr algn="ctr" indent="0" marL="0">
              <a:buNone/>
            </a:pPr>
            <a:r>
              <a:rPr lang="en-US" sz="1200" dirty="0">
                <a:solidFill>
                  <a:srgbClr val="00F0FF"/>
                </a:solidFill>
                <a:latin typeface="Arial" pitchFamily="34" charset="0"/>
                <a:ea typeface="Arial" pitchFamily="34" charset="-122"/>
                <a:cs typeface="Arial" pitchFamily="34" charset="-120"/>
              </a:rPr>
              <a:t>Paid instantly in USDT (BEP-20)</a:t>
            </a:r>
            <a:endParaRPr lang="en-US" sz="1200" dirty="0"/>
          </a:p>
        </p:txBody>
      </p:sp>
      <p:sp>
        <p:nvSpPr>
          <p:cNvPr id="16" name="Shape 13"/>
          <p:cNvSpPr/>
          <p:nvPr/>
        </p:nvSpPr>
        <p:spPr>
          <a:xfrm>
            <a:off x="5120640" y="1737360"/>
            <a:ext cx="6309360" cy="1325880"/>
          </a:xfrm>
          <a:prstGeom prst="roundRect">
            <a:avLst/>
          </a:prstGeom>
          <a:solidFill>
            <a:srgbClr val="0E1A38"/>
          </a:solidFill>
          <a:ln w="19050">
            <a:solidFill>
              <a:srgbClr val="00F0FF"/>
            </a:solidFill>
            <a:prstDash val="solid"/>
          </a:ln>
        </p:spPr>
      </p:sp>
      <p:sp>
        <p:nvSpPr>
          <p:cNvPr id="17" name="Text 14"/>
          <p:cNvSpPr/>
          <p:nvPr/>
        </p:nvSpPr>
        <p:spPr>
          <a:xfrm>
            <a:off x="5394960" y="1874520"/>
            <a:ext cx="5760720" cy="36576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Direct 10% Instant Allocation</a:t>
            </a:r>
            <a:endParaRPr lang="en-US" sz="1400" dirty="0"/>
          </a:p>
        </p:txBody>
      </p:sp>
      <p:sp>
        <p:nvSpPr>
          <p:cNvPr id="18" name="Text 15"/>
          <p:cNvSpPr/>
          <p:nvPr/>
        </p:nvSpPr>
        <p:spPr>
          <a:xfrm>
            <a:off x="5394960" y="2240280"/>
            <a:ext cx="5760720" cy="6858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10% of the sponsored member’s package amount is credited straight to your available balance upon package activation in USDT.</a:t>
            </a:r>
            <a:endParaRPr lang="en-US" sz="1100" dirty="0"/>
          </a:p>
        </p:txBody>
      </p:sp>
      <p:sp>
        <p:nvSpPr>
          <p:cNvPr id="19" name="Shape 16"/>
          <p:cNvSpPr/>
          <p:nvPr/>
        </p:nvSpPr>
        <p:spPr>
          <a:xfrm>
            <a:off x="5120640" y="3246120"/>
            <a:ext cx="6309360" cy="1325880"/>
          </a:xfrm>
          <a:prstGeom prst="roundRect">
            <a:avLst/>
          </a:prstGeom>
          <a:solidFill>
            <a:srgbClr val="0E1A38"/>
          </a:solidFill>
          <a:ln w="19050">
            <a:solidFill>
              <a:srgbClr val="00F0FF"/>
            </a:solidFill>
            <a:prstDash val="solid"/>
          </a:ln>
        </p:spPr>
      </p:sp>
      <p:sp>
        <p:nvSpPr>
          <p:cNvPr id="20" name="Text 17"/>
          <p:cNvSpPr/>
          <p:nvPr/>
        </p:nvSpPr>
        <p:spPr>
          <a:xfrm>
            <a:off x="5394960" y="3383280"/>
            <a:ext cx="5760720" cy="36576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Unlimited Direct Referrals</a:t>
            </a:r>
            <a:endParaRPr lang="en-US" sz="1400" dirty="0"/>
          </a:p>
        </p:txBody>
      </p:sp>
      <p:sp>
        <p:nvSpPr>
          <p:cNvPr id="21" name="Text 18"/>
          <p:cNvSpPr/>
          <p:nvPr/>
        </p:nvSpPr>
        <p:spPr>
          <a:xfrm>
            <a:off x="5394960" y="3749040"/>
            <a:ext cx="5760720" cy="6858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No limit on the number of members you can personally refer. Grow your active organization at your own pace.</a:t>
            </a:r>
            <a:endParaRPr lang="en-US" sz="1100" dirty="0"/>
          </a:p>
        </p:txBody>
      </p:sp>
      <p:sp>
        <p:nvSpPr>
          <p:cNvPr id="22" name="Shape 19"/>
          <p:cNvSpPr/>
          <p:nvPr/>
        </p:nvSpPr>
        <p:spPr>
          <a:xfrm>
            <a:off x="5120640" y="4754880"/>
            <a:ext cx="6309360" cy="1325880"/>
          </a:xfrm>
          <a:prstGeom prst="roundRect">
            <a:avLst/>
          </a:prstGeom>
          <a:solidFill>
            <a:srgbClr val="0E1A38"/>
          </a:solidFill>
          <a:ln w="19050">
            <a:solidFill>
              <a:srgbClr val="00F0FF"/>
            </a:solidFill>
            <a:prstDash val="solid"/>
          </a:ln>
        </p:spPr>
      </p:sp>
      <p:sp>
        <p:nvSpPr>
          <p:cNvPr id="23" name="Text 20"/>
          <p:cNvSpPr/>
          <p:nvPr/>
        </p:nvSpPr>
        <p:spPr>
          <a:xfrm>
            <a:off x="5394960" y="4892040"/>
            <a:ext cx="5760720" cy="36576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Immediate Real-Time Settlement</a:t>
            </a:r>
            <a:endParaRPr lang="en-US" sz="1400" dirty="0"/>
          </a:p>
        </p:txBody>
      </p:sp>
      <p:sp>
        <p:nvSpPr>
          <p:cNvPr id="24" name="Text 21"/>
          <p:cNvSpPr/>
          <p:nvPr/>
        </p:nvSpPr>
        <p:spPr>
          <a:xfrm>
            <a:off x="5394960" y="5257800"/>
            <a:ext cx="5760720" cy="6858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Funds are unlocked immediately for withdrawal or compounding. No lock-in period on referral earnings.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02 LEVEL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0.25% Level Income from Level 2 to Level 12</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7 of 15</a:t>
            </a:r>
            <a:endParaRPr lang="en-US" sz="900" dirty="0"/>
          </a:p>
        </p:txBody>
      </p:sp>
      <p:sp>
        <p:nvSpPr>
          <p:cNvPr id="12" name="Shape 9"/>
          <p:cNvSpPr/>
          <p:nvPr/>
        </p:nvSpPr>
        <p:spPr>
          <a:xfrm>
            <a:off x="731520" y="1737360"/>
            <a:ext cx="3840480" cy="3474720"/>
          </a:xfrm>
          <a:prstGeom prst="roundRect">
            <a:avLst/>
          </a:prstGeom>
          <a:solidFill>
            <a:srgbClr val="0D2046"/>
          </a:solidFill>
          <a:ln w="31750">
            <a:solidFill>
              <a:srgbClr val="F59E0B"/>
            </a:solidFill>
            <a:prstDash val="solid"/>
          </a:ln>
        </p:spPr>
      </p:sp>
      <p:sp>
        <p:nvSpPr>
          <p:cNvPr id="13" name="Text 10"/>
          <p:cNvSpPr/>
          <p:nvPr/>
        </p:nvSpPr>
        <p:spPr>
          <a:xfrm>
            <a:off x="731520" y="2011680"/>
            <a:ext cx="3840480" cy="1280160"/>
          </a:xfrm>
          <a:prstGeom prst="rect">
            <a:avLst/>
          </a:prstGeom>
          <a:noFill/>
          <a:ln/>
        </p:spPr>
        <p:txBody>
          <a:bodyPr wrap="square" rtlCol="0" anchor="ctr"/>
          <a:lstStyle/>
          <a:p>
            <a:pPr algn="ctr" indent="0" marL="0">
              <a:buNone/>
            </a:pPr>
            <a:r>
              <a:rPr lang="en-US" sz="5600" b="1" dirty="0">
                <a:solidFill>
                  <a:srgbClr val="F59E0B"/>
                </a:solidFill>
                <a:latin typeface="Arial" pitchFamily="34" charset="0"/>
                <a:ea typeface="Arial" pitchFamily="34" charset="-122"/>
                <a:cs typeface="Arial" pitchFamily="34" charset="-120"/>
              </a:rPr>
              <a:t>0.25%</a:t>
            </a:r>
            <a:endParaRPr lang="en-US" sz="5600" dirty="0"/>
          </a:p>
        </p:txBody>
      </p:sp>
      <p:sp>
        <p:nvSpPr>
          <p:cNvPr id="14" name="Text 11"/>
          <p:cNvSpPr/>
          <p:nvPr/>
        </p:nvSpPr>
        <p:spPr>
          <a:xfrm>
            <a:off x="822960" y="3383280"/>
            <a:ext cx="3657600" cy="12801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LEVEL INCOME</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From Level 2 To Level 12</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on every qualifying referral investment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737360"/>
          <a:ext cx="6583680" cy="3474720"/>
        </p:xfrm>
        <a:graphic>
          <a:graphicData uri="http://schemas.openxmlformats.org/drawingml/2006/table">
            <a:tbl>
              <a:tblPr/>
              <a:tblGrid>
                <a:gridCol w="2194560"/>
                <a:gridCol w="2194560"/>
                <a:gridCol w="2194560"/>
              </a:tblGrid>
              <a:tr h="579120">
                <a:tc>
                  <a:txBody>
                    <a:bodyPr/>
                    <a:lstStyle/>
                    <a:p>
                      <a:pPr indent="0" marL="0">
                        <a:buNone/>
                      </a:pPr>
                      <a:r>
                        <a:rPr lang="en-US" sz="1100" b="1" dirty="0">
                          <a:solidFill>
                            <a:srgbClr val="F59E0B"/>
                          </a:solidFill>
                          <a:latin typeface="Arial" pitchFamily="34" charset="0"/>
                          <a:ea typeface="Arial" pitchFamily="34" charset="-122"/>
                          <a:cs typeface="Arial" pitchFamily="34" charset="-120"/>
                        </a:rPr>
                        <a:t>Level Tier</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indent="0" marL="0">
                        <a:buNone/>
                      </a:pPr>
                      <a:r>
                        <a:rPr lang="en-US" sz="1100" b="1" dirty="0">
                          <a:solidFill>
                            <a:srgbClr val="F59E0B"/>
                          </a:solidFill>
                          <a:latin typeface="Arial" pitchFamily="34" charset="0"/>
                          <a:ea typeface="Arial" pitchFamily="34" charset="-122"/>
                          <a:cs typeface="Arial" pitchFamily="34" charset="-120"/>
                        </a:rPr>
                        <a:t>Percentage Rate</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indent="0" marL="0">
                        <a:buNone/>
                      </a:pPr>
                      <a:r>
                        <a:rPr lang="en-US" sz="1100" b="1" dirty="0">
                          <a:solidFill>
                            <a:srgbClr val="F59E0B"/>
                          </a:solidFill>
                          <a:latin typeface="Arial" pitchFamily="34" charset="0"/>
                          <a:ea typeface="Arial" pitchFamily="34" charset="-122"/>
                          <a:cs typeface="Arial" pitchFamily="34" charset="-120"/>
                        </a:rPr>
                        <a:t>Qualification Requirement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579120">
                <a:tc>
                  <a:txBody>
                    <a:bodyPr/>
                    <a:lstStyle/>
                    <a:p>
                      <a:pPr indent="0" marL="0">
                        <a:buNone/>
                      </a:pPr>
                      <a:r>
                        <a:rPr lang="en-US" sz="1100" dirty="0">
                          <a:solidFill>
                            <a:srgbClr val="FFFFFF"/>
                          </a:solidFill>
                          <a:latin typeface="Arial" pitchFamily="34" charset="0"/>
                          <a:ea typeface="Arial" pitchFamily="34" charset="-122"/>
                          <a:cs typeface="Arial" pitchFamily="34" charset="-120"/>
                        </a:rPr>
                        <a:t>Level 1 (Direct)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00F0FF"/>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dirty="0">
                          <a:solidFill>
                            <a:srgbClr val="94A3B8"/>
                          </a:solidFill>
                          <a:latin typeface="Arial" pitchFamily="34" charset="0"/>
                          <a:ea typeface="Arial" pitchFamily="34" charset="-122"/>
                          <a:cs typeface="Arial" pitchFamily="34" charset="-120"/>
                        </a:rPr>
                        <a:t>Direct Referral Commission</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79120">
                <a:tc>
                  <a:txBody>
                    <a:bodyPr/>
                    <a:lstStyle/>
                    <a:p>
                      <a:pPr indent="0" marL="0">
                        <a:buNone/>
                      </a:pPr>
                      <a:r>
                        <a:rPr lang="en-US" sz="1100" dirty="0">
                          <a:solidFill>
                            <a:srgbClr val="FFFFFF"/>
                          </a:solidFill>
                          <a:latin typeface="Arial" pitchFamily="34" charset="0"/>
                          <a:ea typeface="Arial" pitchFamily="34" charset="-122"/>
                          <a:cs typeface="Arial" pitchFamily="34" charset="-120"/>
                        </a:rPr>
                        <a:t>Level 2</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00F0FF"/>
                          </a:solidFill>
                          <a:latin typeface="Arial" pitchFamily="34" charset="0"/>
                          <a:ea typeface="Arial" pitchFamily="34" charset="-122"/>
                          <a:cs typeface="Arial" pitchFamily="34" charset="-120"/>
                        </a:rPr>
                        <a:t>0.25%</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10B981"/>
                          </a:solidFill>
                          <a:latin typeface="Arial" pitchFamily="34" charset="0"/>
                          <a:ea typeface="Arial" pitchFamily="34" charset="-122"/>
                          <a:cs typeface="Arial" pitchFamily="34" charset="-120"/>
                        </a:rPr>
                        <a:t>No conditions required</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79120">
                <a:tc>
                  <a:txBody>
                    <a:bodyPr/>
                    <a:lstStyle/>
                    <a:p>
                      <a:pPr indent="0" marL="0">
                        <a:buNone/>
                      </a:pPr>
                      <a:r>
                        <a:rPr lang="en-US" sz="1100" dirty="0">
                          <a:solidFill>
                            <a:srgbClr val="FFFFFF"/>
                          </a:solidFill>
                          <a:latin typeface="Arial" pitchFamily="34" charset="0"/>
                          <a:ea typeface="Arial" pitchFamily="34" charset="-122"/>
                          <a:cs typeface="Arial" pitchFamily="34" charset="-120"/>
                        </a:rPr>
                        <a:t>Level 3 to Level 5</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00F0FF"/>
                          </a:solidFill>
                          <a:latin typeface="Arial" pitchFamily="34" charset="0"/>
                          <a:ea typeface="Arial" pitchFamily="34" charset="-122"/>
                          <a:cs typeface="Arial" pitchFamily="34" charset="-120"/>
                        </a:rPr>
                        <a:t>0.25% each</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10B981"/>
                          </a:solidFill>
                          <a:latin typeface="Arial" pitchFamily="34" charset="0"/>
                          <a:ea typeface="Arial" pitchFamily="34" charset="-122"/>
                          <a:cs typeface="Arial" pitchFamily="34" charset="-120"/>
                        </a:rPr>
                        <a:t>No conditions required</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79120">
                <a:tc>
                  <a:txBody>
                    <a:bodyPr/>
                    <a:lstStyle/>
                    <a:p>
                      <a:pPr indent="0" marL="0">
                        <a:buNone/>
                      </a:pPr>
                      <a:r>
                        <a:rPr lang="en-US" sz="1100" dirty="0">
                          <a:solidFill>
                            <a:srgbClr val="FFFFFF"/>
                          </a:solidFill>
                          <a:latin typeface="Arial" pitchFamily="34" charset="0"/>
                          <a:ea typeface="Arial" pitchFamily="34" charset="-122"/>
                          <a:cs typeface="Arial" pitchFamily="34" charset="-120"/>
                        </a:rPr>
                        <a:t>Level 6 to Level 9</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00F0FF"/>
                          </a:solidFill>
                          <a:latin typeface="Arial" pitchFamily="34" charset="0"/>
                          <a:ea typeface="Arial" pitchFamily="34" charset="-122"/>
                          <a:cs typeface="Arial" pitchFamily="34" charset="-120"/>
                        </a:rPr>
                        <a:t>0.25% each</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10B981"/>
                          </a:solidFill>
                          <a:latin typeface="Arial" pitchFamily="34" charset="0"/>
                          <a:ea typeface="Arial" pitchFamily="34" charset="-122"/>
                          <a:cs typeface="Arial" pitchFamily="34" charset="-120"/>
                        </a:rPr>
                        <a:t>No conditions required</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79120">
                <a:tc>
                  <a:txBody>
                    <a:bodyPr/>
                    <a:lstStyle/>
                    <a:p>
                      <a:pPr indent="0" marL="0">
                        <a:buNone/>
                      </a:pPr>
                      <a:r>
                        <a:rPr lang="en-US" sz="1100" dirty="0">
                          <a:solidFill>
                            <a:srgbClr val="FFFFFF"/>
                          </a:solidFill>
                          <a:latin typeface="Arial" pitchFamily="34" charset="0"/>
                          <a:ea typeface="Arial" pitchFamily="34" charset="-122"/>
                          <a:cs typeface="Arial" pitchFamily="34" charset="-120"/>
                        </a:rPr>
                        <a:t>Level 10 to Level 12</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00F0FF"/>
                          </a:solidFill>
                          <a:latin typeface="Arial" pitchFamily="34" charset="0"/>
                          <a:ea typeface="Arial" pitchFamily="34" charset="-122"/>
                          <a:cs typeface="Arial" pitchFamily="34" charset="-120"/>
                        </a:rPr>
                        <a:t>0.25% each</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100" b="1" dirty="0">
                          <a:solidFill>
                            <a:srgbClr val="10B981"/>
                          </a:solidFill>
                          <a:latin typeface="Arial" pitchFamily="34" charset="0"/>
                          <a:ea typeface="Arial" pitchFamily="34" charset="-122"/>
                          <a:cs typeface="Arial" pitchFamily="34" charset="-120"/>
                        </a:rPr>
                        <a:t>No conditions required</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bl>
          </a:graphicData>
        </a:graphic>
      </p:graphicFrame>
      <p:sp>
        <p:nvSpPr>
          <p:cNvPr id="16" name="Shape 12"/>
          <p:cNvSpPr/>
          <p:nvPr/>
        </p:nvSpPr>
        <p:spPr>
          <a:xfrm>
            <a:off x="731520" y="5440680"/>
            <a:ext cx="10725912" cy="731520"/>
          </a:xfrm>
          <a:prstGeom prst="roundRect">
            <a:avLst/>
          </a:prstGeom>
          <a:solidFill>
            <a:srgbClr val="0A1E4A"/>
          </a:solidFill>
          <a:ln w="25400">
            <a:solidFill>
              <a:srgbClr val="F59E0B"/>
            </a:solidFill>
            <a:prstDash val="solid"/>
          </a:ln>
        </p:spPr>
      </p:sp>
      <p:sp>
        <p:nvSpPr>
          <p:cNvPr id="17" name="Text 13"/>
          <p:cNvSpPr/>
          <p:nvPr/>
        </p:nvSpPr>
        <p:spPr>
          <a:xfrm>
            <a:off x="731520" y="5623560"/>
            <a:ext cx="10725912" cy="411480"/>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THERE ARE NO CONDITIONS REQUIRED TO EARN LEVEL INCOME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03 DAILY WITHDRAWAL ROI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5% Daily Allocation: 1% Profit + 4% Principal for 25 Days</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8 of 15</a:t>
            </a:r>
            <a:endParaRPr lang="en-US" sz="900" dirty="0"/>
          </a:p>
        </p:txBody>
      </p:sp>
      <p:sp>
        <p:nvSpPr>
          <p:cNvPr id="12" name="Shape 9"/>
          <p:cNvSpPr/>
          <p:nvPr/>
        </p:nvSpPr>
        <p:spPr>
          <a:xfrm>
            <a:off x="731520" y="1737360"/>
            <a:ext cx="4389120" cy="4389120"/>
          </a:xfrm>
          <a:prstGeom prst="roundRect">
            <a:avLst/>
          </a:prstGeom>
          <a:solidFill>
            <a:srgbClr val="0D2046"/>
          </a:solidFill>
          <a:ln w="31750">
            <a:solidFill>
              <a:srgbClr val="F59E0B"/>
            </a:solidFill>
            <a:prstDash val="solid"/>
          </a:ln>
        </p:spPr>
      </p:sp>
      <p:sp>
        <p:nvSpPr>
          <p:cNvPr id="13" name="Text 10"/>
          <p:cNvSpPr/>
          <p:nvPr/>
        </p:nvSpPr>
        <p:spPr>
          <a:xfrm>
            <a:off x="731520" y="1920240"/>
            <a:ext cx="4389120" cy="1097280"/>
          </a:xfrm>
          <a:prstGeom prst="rect">
            <a:avLst/>
          </a:prstGeom>
          <a:noFill/>
          <a:ln/>
        </p:spPr>
        <p:txBody>
          <a:bodyPr wrap="square" rtlCol="0" anchor="ctr"/>
          <a:lstStyle/>
          <a:p>
            <a:pPr algn="ctr" indent="0" marL="0">
              <a:buNone/>
            </a:pPr>
            <a:r>
              <a:rPr lang="en-US" sz="6400" b="1" dirty="0">
                <a:solidFill>
                  <a:srgbClr val="F59E0B"/>
                </a:solidFill>
                <a:latin typeface="Arial" pitchFamily="34" charset="0"/>
                <a:ea typeface="Arial" pitchFamily="34" charset="-122"/>
                <a:cs typeface="Arial" pitchFamily="34" charset="-120"/>
              </a:rPr>
              <a:t>5%</a:t>
            </a:r>
            <a:endParaRPr lang="en-US" sz="6400" dirty="0"/>
          </a:p>
        </p:txBody>
      </p:sp>
      <p:sp>
        <p:nvSpPr>
          <p:cNvPr id="14" name="Text 11"/>
          <p:cNvSpPr/>
          <p:nvPr/>
        </p:nvSpPr>
        <p:spPr>
          <a:xfrm>
            <a:off x="731520" y="3017520"/>
            <a:ext cx="43891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DAILY ALLOCATION</a:t>
            </a:r>
            <a:endParaRPr lang="en-US" sz="1800" dirty="0"/>
          </a:p>
        </p:txBody>
      </p:sp>
      <p:sp>
        <p:nvSpPr>
          <p:cNvPr id="15" name="Text 12"/>
          <p:cNvSpPr/>
          <p:nvPr/>
        </p:nvSpPr>
        <p:spPr>
          <a:xfrm>
            <a:off x="731520" y="3474720"/>
            <a:ext cx="4389120" cy="411480"/>
          </a:xfrm>
          <a:prstGeom prst="rect">
            <a:avLst/>
          </a:prstGeom>
          <a:noFill/>
          <a:ln/>
        </p:spPr>
        <p:txBody>
          <a:bodyPr wrap="square" rtlCol="0" anchor="ctr"/>
          <a:lstStyle/>
          <a:p>
            <a:pPr algn="ctr" indent="0" marL="0">
              <a:buNone/>
            </a:pPr>
            <a:r>
              <a:rPr lang="en-US" sz="1300" b="1" dirty="0">
                <a:solidFill>
                  <a:srgbClr val="00F0FF"/>
                </a:solidFill>
                <a:latin typeface="Arial" pitchFamily="34" charset="0"/>
                <a:ea typeface="Arial" pitchFamily="34" charset="-122"/>
                <a:cs typeface="Arial" pitchFamily="34" charset="-120"/>
              </a:rPr>
              <a:t>( 1% Profit + 4% Principal for 25 Days )</a:t>
            </a:r>
            <a:endParaRPr lang="en-US" sz="1300" dirty="0"/>
          </a:p>
        </p:txBody>
      </p:sp>
      <p:sp>
        <p:nvSpPr>
          <p:cNvPr id="16" name="Text 13"/>
          <p:cNvSpPr/>
          <p:nvPr/>
        </p:nvSpPr>
        <p:spPr>
          <a:xfrm>
            <a:off x="731520" y="4023360"/>
            <a:ext cx="4389120" cy="822960"/>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Investment Range:</a:t>
            </a:r>
            <a:endParaRPr lang="en-US" sz="1500" dirty="0"/>
          </a:p>
          <a:p>
            <a:pPr algn="ctr" indent="0" marL="0">
              <a:buNone/>
            </a:pPr>
            <a:r>
              <a:rPr lang="en-US" sz="1500" b="1" dirty="0">
                <a:solidFill>
                  <a:srgbClr val="F59E0B"/>
                </a:solidFill>
                <a:latin typeface="Arial" pitchFamily="34" charset="0"/>
                <a:ea typeface="Arial" pitchFamily="34" charset="-122"/>
                <a:cs typeface="Arial" pitchFamily="34" charset="-120"/>
              </a:rPr>
              <a:t>2 USDT - 10,000 USDT</a:t>
            </a:r>
            <a:endParaRPr lang="en-US" sz="1500" dirty="0"/>
          </a:p>
        </p:txBody>
      </p:sp>
      <p:sp>
        <p:nvSpPr>
          <p:cNvPr id="17" name="Text 14"/>
          <p:cNvSpPr/>
          <p:nvPr/>
        </p:nvSpPr>
        <p:spPr>
          <a:xfrm>
            <a:off x="914400" y="4937760"/>
            <a:ext cx="4023360" cy="822960"/>
          </a:xfrm>
          <a:prstGeom prst="rect">
            <a:avLst/>
          </a:prstGeom>
          <a:noFill/>
          <a:ln/>
        </p:spPr>
        <p:txBody>
          <a:bodyPr wrap="square" rtlCol="0" anchor="ctr"/>
          <a:lstStyle/>
          <a:p>
            <a:pPr algn="ctr" indent="0" marL="0">
              <a:buNone/>
            </a:pPr>
            <a:r>
              <a:rPr lang="en-US" sz="1050" dirty="0">
                <a:solidFill>
                  <a:srgbClr val="94A3B8"/>
                </a:solidFill>
                <a:latin typeface="Arial" pitchFamily="34" charset="0"/>
                <a:ea typeface="Arial" pitchFamily="34" charset="-122"/>
                <a:cs typeface="Arial" pitchFamily="34" charset="-120"/>
              </a:rPr>
              <a:t>Start with as little as 2 USDT and grow your wealth greater potential</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394960" y="1737360"/>
          <a:ext cx="6035040" cy="3749040"/>
        </p:xfrm>
        <a:graphic>
          <a:graphicData uri="http://schemas.openxmlformats.org/drawingml/2006/table">
            <a:tbl>
              <a:tblPr/>
              <a:tblGrid>
                <a:gridCol w="2011680"/>
                <a:gridCol w="2011680"/>
                <a:gridCol w="2011680"/>
              </a:tblGrid>
              <a:tr h="535577">
                <a:tc>
                  <a:txBody>
                    <a:bodyPr/>
                    <a:lstStyle/>
                    <a:p>
                      <a:pPr indent="0" marL="0">
                        <a:buNone/>
                      </a:pPr>
                      <a:r>
                        <a:rPr lang="en-US" sz="1050" b="1" dirty="0">
                          <a:solidFill>
                            <a:srgbClr val="F59E0B"/>
                          </a:solidFill>
                          <a:latin typeface="Arial" pitchFamily="34" charset="0"/>
                          <a:ea typeface="Arial" pitchFamily="34" charset="-122"/>
                          <a:cs typeface="Arial" pitchFamily="34" charset="-120"/>
                        </a:rPr>
                        <a:t>Cycle Breakdown Item (10 USDT Example)</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r" indent="0" marL="0">
                        <a:buNone/>
                      </a:pPr>
                      <a:r>
                        <a:rPr lang="en-US" sz="1050" b="1" dirty="0">
                          <a:solidFill>
                            <a:srgbClr val="F59E0B"/>
                          </a:solidFill>
                          <a:latin typeface="Arial" pitchFamily="34" charset="0"/>
                          <a:ea typeface="Arial" pitchFamily="34" charset="-122"/>
                          <a:cs typeface="Arial" pitchFamily="34" charset="-120"/>
                        </a:rPr>
                        <a:t>Amount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indent="0" marL="0">
                        <a:buNone/>
                      </a:pPr>
                      <a:r>
                        <a:rPr lang="en-US" sz="1050" b="1" dirty="0">
                          <a:solidFill>
                            <a:srgbClr val="F59E0B"/>
                          </a:solidFill>
                          <a:latin typeface="Arial" pitchFamily="34" charset="0"/>
                          <a:ea typeface="Arial" pitchFamily="34" charset="-122"/>
                          <a:cs typeface="Arial" pitchFamily="34" charset="-120"/>
                        </a:rPr>
                        <a:t>Component Detail</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535577">
                <a:tc>
                  <a:txBody>
                    <a:bodyPr/>
                    <a:lstStyle/>
                    <a:p>
                      <a:pPr indent="0" marL="0">
                        <a:buNone/>
                      </a:pPr>
                      <a:r>
                        <a:rPr lang="en-US" sz="1050" dirty="0">
                          <a:solidFill>
                            <a:srgbClr val="FFFFFF"/>
                          </a:solidFill>
                          <a:latin typeface="Arial" pitchFamily="34" charset="0"/>
                          <a:ea typeface="Arial" pitchFamily="34" charset="-122"/>
                          <a:cs typeface="Arial" pitchFamily="34" charset="-120"/>
                        </a:rPr>
                        <a:t>Daily principal allocation (4%)</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r" indent="0" marL="0">
                        <a:buNone/>
                      </a:pPr>
                      <a:r>
                        <a:rPr lang="en-US" sz="1050" b="1" dirty="0">
                          <a:solidFill>
                            <a:srgbClr val="00F0FF"/>
                          </a:solidFill>
                          <a:latin typeface="Arial" pitchFamily="34" charset="0"/>
                          <a:ea typeface="Arial" pitchFamily="34" charset="-122"/>
                          <a:cs typeface="Arial" pitchFamily="34" charset="-120"/>
                        </a:rPr>
                        <a:t>0.40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Capital return component per day</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35577">
                <a:tc>
                  <a:txBody>
                    <a:bodyPr/>
                    <a:lstStyle/>
                    <a:p>
                      <a:pPr indent="0" marL="0">
                        <a:buNone/>
                      </a:pPr>
                      <a:r>
                        <a:rPr lang="en-US" sz="1050" dirty="0">
                          <a:solidFill>
                            <a:srgbClr val="FFFFFF"/>
                          </a:solidFill>
                          <a:latin typeface="Arial" pitchFamily="34" charset="0"/>
                          <a:ea typeface="Arial" pitchFamily="34" charset="-122"/>
                          <a:cs typeface="Arial" pitchFamily="34" charset="-120"/>
                        </a:rPr>
                        <a:t>Daily profit allocation (1%)</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r" indent="0" marL="0">
                        <a:buNone/>
                      </a:pPr>
                      <a:r>
                        <a:rPr lang="en-US" sz="1050" b="1" dirty="0">
                          <a:solidFill>
                            <a:srgbClr val="10B981"/>
                          </a:solidFill>
                          <a:latin typeface="Arial" pitchFamily="34" charset="0"/>
                          <a:ea typeface="Arial" pitchFamily="34" charset="-122"/>
                          <a:cs typeface="Arial" pitchFamily="34" charset="-120"/>
                        </a:rPr>
                        <a:t>0.10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Net daily profit generation</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35577">
                <a:tc>
                  <a:txBody>
                    <a:bodyPr/>
                    <a:lstStyle/>
                    <a:p>
                      <a:pPr indent="0" marL="0">
                        <a:buNone/>
                      </a:pPr>
                      <a:r>
                        <a:rPr lang="en-US" sz="1050" b="1" dirty="0">
                          <a:solidFill>
                            <a:srgbClr val="FFFFFF"/>
                          </a:solidFill>
                          <a:latin typeface="Arial" pitchFamily="34" charset="0"/>
                          <a:ea typeface="Arial" pitchFamily="34" charset="-122"/>
                          <a:cs typeface="Arial" pitchFamily="34" charset="-120"/>
                        </a:rPr>
                        <a:t>Daily total allocation (5%)</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r" indent="0" marL="0">
                        <a:buNone/>
                      </a:pPr>
                      <a:r>
                        <a:rPr lang="en-US" sz="1050" b="1" dirty="0">
                          <a:solidFill>
                            <a:srgbClr val="F59E0B"/>
                          </a:solidFill>
                          <a:latin typeface="Arial" pitchFamily="34" charset="0"/>
                          <a:ea typeface="Arial" pitchFamily="34" charset="-122"/>
                          <a:cs typeface="Arial" pitchFamily="34" charset="-120"/>
                        </a:rPr>
                        <a:t>0.50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Combined daily payout credited</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35577">
                <a:tc>
                  <a:txBody>
                    <a:bodyPr/>
                    <a:lstStyle/>
                    <a:p>
                      <a:pPr indent="0" marL="0">
                        <a:buNone/>
                      </a:pPr>
                      <a:r>
                        <a:rPr lang="en-US" sz="1050" dirty="0">
                          <a:solidFill>
                            <a:srgbClr val="FFFFFF"/>
                          </a:solidFill>
                          <a:latin typeface="Arial" pitchFamily="34" charset="0"/>
                          <a:ea typeface="Arial" pitchFamily="34" charset="-122"/>
                          <a:cs typeface="Arial" pitchFamily="34" charset="-120"/>
                        </a:rPr>
                        <a:t>25-day principal allocation (4% × 25)</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r" indent="0" marL="0">
                        <a:buNone/>
                      </a:pPr>
                      <a:r>
                        <a:rPr lang="en-US" sz="1050" b="1" dirty="0">
                          <a:solidFill>
                            <a:srgbClr val="00F0FF"/>
                          </a:solidFill>
                          <a:latin typeface="Arial" pitchFamily="34" charset="0"/>
                          <a:ea typeface="Arial" pitchFamily="34" charset="-122"/>
                          <a:cs typeface="Arial" pitchFamily="34" charset="-120"/>
                        </a:rPr>
                        <a:t>10.00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100% of initial principal returned</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35577">
                <a:tc>
                  <a:txBody>
                    <a:bodyPr/>
                    <a:lstStyle/>
                    <a:p>
                      <a:pPr indent="0" marL="0">
                        <a:buNone/>
                      </a:pPr>
                      <a:r>
                        <a:rPr lang="en-US" sz="1050" dirty="0">
                          <a:solidFill>
                            <a:srgbClr val="FFFFFF"/>
                          </a:solidFill>
                          <a:latin typeface="Arial" pitchFamily="34" charset="0"/>
                          <a:ea typeface="Arial" pitchFamily="34" charset="-122"/>
                          <a:cs typeface="Arial" pitchFamily="34" charset="-120"/>
                        </a:rPr>
                        <a:t>25-day profit allocation (1% × 25)</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r" indent="0" marL="0">
                        <a:buNone/>
                      </a:pPr>
                      <a:r>
                        <a:rPr lang="en-US" sz="1050" b="1" dirty="0">
                          <a:solidFill>
                            <a:srgbClr val="10B981"/>
                          </a:solidFill>
                          <a:latin typeface="Arial" pitchFamily="34" charset="0"/>
                          <a:ea typeface="Arial" pitchFamily="34" charset="-122"/>
                          <a:cs typeface="Arial" pitchFamily="34" charset="-120"/>
                        </a:rPr>
                        <a:t>2.50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25% pure net profit over cycle</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535577">
                <a:tc>
                  <a:txBody>
                    <a:bodyPr/>
                    <a:lstStyle/>
                    <a:p>
                      <a:pPr indent="0" marL="0">
                        <a:buNone/>
                      </a:pPr>
                      <a:r>
                        <a:rPr lang="en-US" sz="1050" b="1" dirty="0">
                          <a:solidFill>
                            <a:srgbClr val="F59E0B"/>
                          </a:solidFill>
                          <a:latin typeface="Arial" pitchFamily="34" charset="0"/>
                          <a:ea typeface="Arial" pitchFamily="34" charset="-122"/>
                          <a:cs typeface="Arial" pitchFamily="34" charset="-120"/>
                        </a:rPr>
                        <a:t>25-day total allocation (5% × 25)</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2046"/>
                    </a:solidFill>
                  </a:tcPr>
                </a:tc>
                <a:tc>
                  <a:txBody>
                    <a:bodyPr/>
                    <a:lstStyle/>
                    <a:p>
                      <a:pPr algn="r" indent="0" marL="0">
                        <a:buNone/>
                      </a:pPr>
                      <a:r>
                        <a:rPr lang="en-US" sz="1050" b="1" dirty="0">
                          <a:solidFill>
                            <a:srgbClr val="F59E0B"/>
                          </a:solidFill>
                          <a:latin typeface="Arial" pitchFamily="34" charset="0"/>
                          <a:ea typeface="Arial" pitchFamily="34" charset="-122"/>
                          <a:cs typeface="Arial" pitchFamily="34" charset="-120"/>
                        </a:rPr>
                        <a:t>12.50 USDT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204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125% total allocation (principal + profit)</a:t>
                      </a:r>
                      <a:endParaRPr lang="en-US" sz="105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2046"/>
                    </a:solidFill>
                  </a:tcPr>
                </a:tc>
              </a:tr>
            </a:tbl>
          </a:graphicData>
        </a:graphic>
      </p:graphicFrame>
      <p:sp>
        <p:nvSpPr>
          <p:cNvPr id="19" name="Text 15"/>
          <p:cNvSpPr/>
          <p:nvPr/>
        </p:nvSpPr>
        <p:spPr>
          <a:xfrm>
            <a:off x="5394960" y="5623560"/>
            <a:ext cx="6035040" cy="64008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 Notice: Principal and profit components are accounted for separately. The 4% component represents principal allocation, not profit. Global Finance does not promise guaranteed or speculative returns.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04 DAILY COMPOUNDING ROI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Daily Compounding Income Examples (5% Daily Allocation)</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9 of 15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725912" cy="4023360"/>
        </p:xfrm>
        <a:graphic>
          <a:graphicData uri="http://schemas.openxmlformats.org/drawingml/2006/table">
            <a:tbl>
              <a:tblPr/>
              <a:tblGrid>
                <a:gridCol w="2145182"/>
                <a:gridCol w="2145182"/>
                <a:gridCol w="2145182"/>
                <a:gridCol w="2145182"/>
                <a:gridCol w="2145182"/>
              </a:tblGrid>
              <a:tr h="447040">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Investment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5% Daily ROI</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00F0FF"/>
                          </a:solidFill>
                          <a:latin typeface="Arial" pitchFamily="34" charset="0"/>
                          <a:ea typeface="Arial" pitchFamily="34" charset="-122"/>
                          <a:cs typeface="Arial" pitchFamily="34" charset="-120"/>
                        </a:rPr>
                        <a:t>25-Day Figure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00F0FF"/>
                          </a:solidFill>
                          <a:latin typeface="Arial" pitchFamily="34" charset="0"/>
                          <a:ea typeface="Arial" pitchFamily="34" charset="-122"/>
                          <a:cs typeface="Arial" pitchFamily="34" charset="-120"/>
                        </a:rPr>
                        <a:t>50-Day Figure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100-Day Figure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2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0.10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6.77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22.93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262.89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5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0.25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16.93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57.34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657.24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10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0.50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33.86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114.67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1,314.47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20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1.00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67.73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229.35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2,628.94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50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2.50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169.32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573.37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6,572.36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100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338.64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1,146.74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13,144.71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500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25.00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1,693.18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5,733.70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65,723.57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4704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1000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3,386.35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11,467.40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131,447.14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D1A38"/>
                    </a:solidFill>
                  </a:tcPr>
                </a:tc>
              </a:tr>
            </a:tbl>
          </a:graphicData>
        </a:graphic>
      </p:graphicFrame>
      <p:sp>
        <p:nvSpPr>
          <p:cNvPr id="13" name="Text 9"/>
          <p:cNvSpPr/>
          <p:nvPr/>
        </p:nvSpPr>
        <p:spPr>
          <a:xfrm>
            <a:off x="731520" y="5897880"/>
            <a:ext cx="10725912" cy="41148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Compounding figures demonstrate theoretical compounding over successive 25-day cycles at 5% daily allocation. Reinvesting earnings carries typical fintech platform market conditions.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05 ROI ON ROI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12th - Level ROI On ROI Matrix</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10 of 15</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371600" y="1828800"/>
          <a:ext cx="9445752" cy="3291840"/>
        </p:xfrm>
        <a:graphic>
          <a:graphicData uri="http://schemas.openxmlformats.org/drawingml/2006/table">
            <a:tbl>
              <a:tblPr/>
              <a:tblGrid>
                <a:gridCol w="2361438"/>
                <a:gridCol w="2361438"/>
                <a:gridCol w="2361438"/>
                <a:gridCol w="2361438"/>
              </a:tblGrid>
              <a:tr h="470263">
                <a:tc>
                  <a:txBody>
                    <a:bodyPr/>
                    <a:lstStyle/>
                    <a:p>
                      <a:pPr algn="ctr" indent="0" marL="0">
                        <a:buNone/>
                      </a:pPr>
                      <a:r>
                        <a:rPr lang="en-US" sz="1200" b="1" dirty="0">
                          <a:solidFill>
                            <a:srgbClr val="F59E0B"/>
                          </a:solidFill>
                          <a:latin typeface="Arial" pitchFamily="34" charset="0"/>
                          <a:ea typeface="Arial" pitchFamily="34" charset="-122"/>
                          <a:cs typeface="Arial" pitchFamily="34" charset="-120"/>
                        </a:rPr>
                        <a:t>Level</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200" b="1" dirty="0">
                          <a:solidFill>
                            <a:srgbClr val="F59E0B"/>
                          </a:solidFill>
                          <a:latin typeface="Arial" pitchFamily="34" charset="0"/>
                          <a:ea typeface="Arial" pitchFamily="34" charset="-122"/>
                          <a:cs typeface="Arial" pitchFamily="34" charset="-120"/>
                        </a:rPr>
                        <a:t>Daily Level Income</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200" b="1" dirty="0">
                          <a:solidFill>
                            <a:srgbClr val="F59E0B"/>
                          </a:solidFill>
                          <a:latin typeface="Arial" pitchFamily="34" charset="0"/>
                          <a:ea typeface="Arial" pitchFamily="34" charset="-122"/>
                          <a:cs typeface="Arial" pitchFamily="34" charset="-120"/>
                        </a:rPr>
                        <a:t>Level</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200" b="1" dirty="0">
                          <a:solidFill>
                            <a:srgbClr val="F59E0B"/>
                          </a:solidFill>
                          <a:latin typeface="Arial" pitchFamily="34" charset="0"/>
                          <a:ea typeface="Arial" pitchFamily="34" charset="-122"/>
                          <a:cs typeface="Arial" pitchFamily="34" charset="-120"/>
                        </a:rPr>
                        <a:t>Daily Level Income</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470263">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Level 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b="1" dirty="0">
                          <a:solidFill>
                            <a:srgbClr val="F59E0B"/>
                          </a:solidFill>
                          <a:latin typeface="Arial" pitchFamily="34" charset="0"/>
                          <a:ea typeface="Arial" pitchFamily="34" charset="-122"/>
                          <a:cs typeface="Arial" pitchFamily="34" charset="-120"/>
                        </a:rPr>
                        <a:t>5% (ROI on ROI)</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Level 7</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b="1"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70263">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2</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8</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70263">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3</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9</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70263">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4</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10</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70263">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5</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11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470263">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6</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FFFFFF"/>
                          </a:solidFill>
                          <a:latin typeface="Arial" pitchFamily="34" charset="0"/>
                          <a:ea typeface="Arial" pitchFamily="34" charset="-122"/>
                          <a:cs typeface="Arial" pitchFamily="34" charset="-120"/>
                        </a:rPr>
                        <a:t>Level 12</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200" dirty="0">
                          <a:solidFill>
                            <a:srgbClr val="00F0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bl>
          </a:graphicData>
        </a:graphic>
      </p:graphicFrame>
      <p:sp>
        <p:nvSpPr>
          <p:cNvPr id="13" name="Shape 9"/>
          <p:cNvSpPr/>
          <p:nvPr/>
        </p:nvSpPr>
        <p:spPr>
          <a:xfrm>
            <a:off x="731520" y="5440680"/>
            <a:ext cx="10725912" cy="731520"/>
          </a:xfrm>
          <a:prstGeom prst="roundRect">
            <a:avLst/>
          </a:prstGeom>
          <a:solidFill>
            <a:srgbClr val="0A1E4A"/>
          </a:solidFill>
          <a:ln w="25400">
            <a:solidFill>
              <a:srgbClr val="F59E0B"/>
            </a:solidFill>
            <a:prstDash val="solid"/>
          </a:ln>
        </p:spPr>
      </p:sp>
      <p:sp>
        <p:nvSpPr>
          <p:cNvPr id="14" name="Text 10"/>
          <p:cNvSpPr/>
          <p:nvPr/>
        </p:nvSpPr>
        <p:spPr>
          <a:xfrm>
            <a:off x="731520" y="5623560"/>
            <a:ext cx="10725912" cy="411480"/>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THERE ARE NO CONDITIONS REQUIRED TO EARN LEVEL INCOME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06 FD STAKING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Fixed Deposit Staking Packages &amp; Summary (All in USDT)</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11 of 15</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828800"/>
          <a:ext cx="10725912" cy="4023360"/>
        </p:xfrm>
        <a:graphic>
          <a:graphicData uri="http://schemas.openxmlformats.org/drawingml/2006/table">
            <a:tbl>
              <a:tblPr/>
              <a:tblGrid>
                <a:gridCol w="2145182"/>
                <a:gridCol w="2145182"/>
                <a:gridCol w="2145182"/>
                <a:gridCol w="2145182"/>
                <a:gridCol w="2145182"/>
              </a:tblGrid>
              <a:tr h="670560">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FD Package</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100" b="1" dirty="0">
                          <a:solidFill>
                            <a:srgbClr val="00F0FF"/>
                          </a:solidFill>
                          <a:latin typeface="Arial" pitchFamily="34" charset="0"/>
                          <a:ea typeface="Arial" pitchFamily="34" charset="-122"/>
                          <a:cs typeface="Arial" pitchFamily="34" charset="-120"/>
                        </a:rPr>
                        <a:t>180-Day Plan:</a:t>
                      </a:r>
                      <a:endParaRPr lang="en-US" sz="1100" dirty="0">
                        <a:latin typeface="Arial" charset="0"/>
                        <a:ea typeface="Arial" charset="0"/>
                        <a:cs typeface="Arial" charset="0"/>
                      </a:endParaRPr>
                    </a:p>
                    <a:p>
                      <a:pPr algn="ctr" indent="0" marL="0">
                        <a:buNone/>
                      </a:pPr>
                      <a:r>
                        <a:rPr lang="en-US" sz="1100" b="1" dirty="0">
                          <a:solidFill>
                            <a:srgbClr val="00F0FF"/>
                          </a:solidFill>
                          <a:latin typeface="Arial" pitchFamily="34" charset="0"/>
                          <a:ea typeface="Arial" pitchFamily="34" charset="-122"/>
                          <a:cs typeface="Arial" pitchFamily="34" charset="-120"/>
                        </a:rPr>
                        <a:t>Daily Return (12%)</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100" b="1" dirty="0">
                          <a:solidFill>
                            <a:srgbClr val="00F0FF"/>
                          </a:solidFill>
                          <a:latin typeface="Arial" pitchFamily="34" charset="0"/>
                          <a:ea typeface="Arial" pitchFamily="34" charset="-122"/>
                          <a:cs typeface="Arial" pitchFamily="34" charset="-120"/>
                        </a:rPr>
                        <a:t>180-Day Plan:</a:t>
                      </a:r>
                      <a:endParaRPr lang="en-US" sz="1100" dirty="0">
                        <a:latin typeface="Arial" charset="0"/>
                        <a:ea typeface="Arial" charset="0"/>
                        <a:cs typeface="Arial" charset="0"/>
                      </a:endParaRPr>
                    </a:p>
                    <a:p>
                      <a:pPr algn="ctr" indent="0" marL="0">
                        <a:buNone/>
                      </a:pPr>
                      <a:r>
                        <a:rPr lang="en-US" sz="1100" b="1" dirty="0">
                          <a:solidFill>
                            <a:srgbClr val="00F0FF"/>
                          </a:solidFill>
                          <a:latin typeface="Arial" pitchFamily="34" charset="0"/>
                          <a:ea typeface="Arial" pitchFamily="34" charset="-122"/>
                          <a:cs typeface="Arial" pitchFamily="34" charset="-120"/>
                        </a:rPr>
                        <a:t>Total Return</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240-Day Plan:</a:t>
                      </a:r>
                      <a:endParaRPr lang="en-US" sz="1100" dirty="0">
                        <a:latin typeface="Arial" charset="0"/>
                        <a:ea typeface="Arial" charset="0"/>
                        <a:cs typeface="Arial" charset="0"/>
                      </a:endParaRPr>
                    </a:p>
                    <a:p>
                      <a:pPr algn="ctr" indent="0" marL="0">
                        <a:buNone/>
                      </a:pPr>
                      <a:r>
                        <a:rPr lang="en-US" sz="1100" b="1" dirty="0">
                          <a:solidFill>
                            <a:srgbClr val="F59E0B"/>
                          </a:solidFill>
                          <a:latin typeface="Arial" pitchFamily="34" charset="0"/>
                          <a:ea typeface="Arial" pitchFamily="34" charset="-122"/>
                          <a:cs typeface="Arial" pitchFamily="34" charset="-120"/>
                        </a:rPr>
                        <a:t>Daily Return (20%)</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240-Day Plan:</a:t>
                      </a:r>
                      <a:endParaRPr lang="en-US" sz="1100" dirty="0">
                        <a:latin typeface="Arial" charset="0"/>
                        <a:ea typeface="Arial" charset="0"/>
                        <a:cs typeface="Arial" charset="0"/>
                      </a:endParaRPr>
                    </a:p>
                    <a:p>
                      <a:pPr algn="ctr" indent="0" marL="0">
                        <a:buNone/>
                      </a:pPr>
                      <a:r>
                        <a:rPr lang="en-US" sz="1100" b="1" dirty="0">
                          <a:solidFill>
                            <a:srgbClr val="F59E0B"/>
                          </a:solidFill>
                          <a:latin typeface="Arial" pitchFamily="34" charset="0"/>
                          <a:ea typeface="Arial" pitchFamily="34" charset="-122"/>
                          <a:cs typeface="Arial" pitchFamily="34" charset="-120"/>
                        </a:rPr>
                        <a:t>Total Return</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67056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00F0FF"/>
                          </a:solidFill>
                          <a:latin typeface="Arial" pitchFamily="34" charset="0"/>
                          <a:ea typeface="Arial" pitchFamily="34" charset="-122"/>
                          <a:cs typeface="Arial" pitchFamily="34" charset="-120"/>
                        </a:rPr>
                        <a:t>1.20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216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F59E0B"/>
                          </a:solidFill>
                          <a:latin typeface="Arial" pitchFamily="34" charset="0"/>
                          <a:ea typeface="Arial" pitchFamily="34" charset="-122"/>
                          <a:cs typeface="Arial" pitchFamily="34" charset="-120"/>
                        </a:rPr>
                        <a:t>2.00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480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67056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00F0FF"/>
                          </a:solidFill>
                          <a:latin typeface="Arial" pitchFamily="34" charset="0"/>
                          <a:ea typeface="Arial" pitchFamily="34" charset="-122"/>
                          <a:cs typeface="Arial" pitchFamily="34" charset="-120"/>
                        </a:rPr>
                        <a:t>12.00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2,160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F59E0B"/>
                          </a:solidFill>
                          <a:latin typeface="Arial" pitchFamily="34" charset="0"/>
                          <a:ea typeface="Arial" pitchFamily="34" charset="-122"/>
                          <a:cs typeface="Arial" pitchFamily="34" charset="-120"/>
                        </a:rPr>
                        <a:t>20.00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4,800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67056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500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00F0FF"/>
                          </a:solidFill>
                          <a:latin typeface="Arial" pitchFamily="34" charset="0"/>
                          <a:ea typeface="Arial" pitchFamily="34" charset="-122"/>
                          <a:cs typeface="Arial" pitchFamily="34" charset="-120"/>
                        </a:rPr>
                        <a:t>60.00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10,800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F59E0B"/>
                          </a:solidFill>
                          <a:latin typeface="Arial" pitchFamily="34" charset="0"/>
                          <a:ea typeface="Arial" pitchFamily="34" charset="-122"/>
                          <a:cs typeface="Arial" pitchFamily="34" charset="-120"/>
                        </a:rPr>
                        <a:t>100.00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24,000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67056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00F0FF"/>
                          </a:solidFill>
                          <a:latin typeface="Arial" pitchFamily="34" charset="0"/>
                          <a:ea typeface="Arial" pitchFamily="34" charset="-122"/>
                          <a:cs typeface="Arial" pitchFamily="34" charset="-120"/>
                        </a:rPr>
                        <a:t>120.00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21,600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F59E0B"/>
                          </a:solidFill>
                          <a:latin typeface="Arial" pitchFamily="34" charset="0"/>
                          <a:ea typeface="Arial" pitchFamily="34" charset="-122"/>
                          <a:cs typeface="Arial" pitchFamily="34" charset="-120"/>
                        </a:rPr>
                        <a:t>200.00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48,000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67056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5,000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00F0FF"/>
                          </a:solidFill>
                          <a:latin typeface="Arial" pitchFamily="34" charset="0"/>
                          <a:ea typeface="Arial" pitchFamily="34" charset="-122"/>
                          <a:cs typeface="Arial" pitchFamily="34" charset="-120"/>
                        </a:rPr>
                        <a:t>600.00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108,000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dirty="0">
                          <a:solidFill>
                            <a:srgbClr val="F59E0B"/>
                          </a:solidFill>
                          <a:latin typeface="Arial" pitchFamily="34" charset="0"/>
                          <a:ea typeface="Arial" pitchFamily="34" charset="-122"/>
                          <a:cs typeface="Arial" pitchFamily="34" charset="-120"/>
                        </a:rPr>
                        <a:t>1,000.00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100" b="1" dirty="0">
                          <a:solidFill>
                            <a:srgbClr val="F59E0B"/>
                          </a:solidFill>
                          <a:latin typeface="Arial" pitchFamily="34" charset="0"/>
                          <a:ea typeface="Arial" pitchFamily="34" charset="-122"/>
                          <a:cs typeface="Arial" pitchFamily="34" charset="-120"/>
                        </a:rPr>
                        <a:t>240,000 USDT</a:t>
                      </a:r>
                      <a:endParaRPr lang="en-US" sz="11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bl>
          </a:graphicData>
        </a:graphic>
      </p:graphicFrame>
      <p:sp>
        <p:nvSpPr>
          <p:cNvPr id="13" name="Text 9"/>
          <p:cNvSpPr/>
          <p:nvPr/>
        </p:nvSpPr>
        <p:spPr>
          <a:xfrm>
            <a:off x="731520" y="5943600"/>
            <a:ext cx="10725912" cy="32004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 Fixed Deposit staking locked for specified tenure. Daily distributions credited continuously in USDT.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07 SALARY INCOME</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LIFETIME SALARY — YOUR EFFORTS. LIFETIME REWARDS.</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12 of 15</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097280" y="1737360"/>
          <a:ext cx="9994392" cy="4114800"/>
        </p:xfrm>
        <a:graphic>
          <a:graphicData uri="http://schemas.openxmlformats.org/drawingml/2006/table">
            <a:tbl>
              <a:tblPr/>
              <a:tblGrid>
                <a:gridCol w="2498598"/>
                <a:gridCol w="2498598"/>
                <a:gridCol w="2498598"/>
                <a:gridCol w="2498598"/>
              </a:tblGrid>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Rank</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Rank Title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00F0FF"/>
                          </a:solidFill>
                          <a:latin typeface="Arial" pitchFamily="34" charset="0"/>
                          <a:ea typeface="Arial" pitchFamily="34" charset="-122"/>
                          <a:cs typeface="Arial" pitchFamily="34" charset="-120"/>
                        </a:rPr>
                        <a:t>Required Team Size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Monthly Lifetime Salary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A142F"/>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A</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Associate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25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B</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Bronze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1,000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50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S</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Silver</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2,000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G</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Gold</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250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P</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Platinum</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10,000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500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Titanium</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25,000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1,500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PL</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Pearl</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3,000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R</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Ruby</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100,000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8,000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E</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Emerald</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250,000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25,000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r h="374073">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D</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Diamond</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dirty="0">
                          <a:solidFill>
                            <a:srgbClr val="00F0FF"/>
                          </a:solidFill>
                          <a:latin typeface="Arial" pitchFamily="34" charset="0"/>
                          <a:ea typeface="Arial" pitchFamily="34" charset="-122"/>
                          <a:cs typeface="Arial" pitchFamily="34" charset="-120"/>
                        </a:rPr>
                        <a:t>500,000</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c>
                  <a:txBody>
                    <a:bodyPr/>
                    <a:lstStyle/>
                    <a:p>
                      <a:pPr algn="ctr" indent="0" marL="0">
                        <a:buNone/>
                      </a:pPr>
                      <a:r>
                        <a:rPr lang="en-US" sz="1000" b="1" dirty="0">
                          <a:solidFill>
                            <a:srgbClr val="F59E0B"/>
                          </a:solidFill>
                          <a:latin typeface="Arial" pitchFamily="34" charset="0"/>
                          <a:ea typeface="Arial" pitchFamily="34" charset="-122"/>
                          <a:cs typeface="Arial" pitchFamily="34" charset="-120"/>
                        </a:rPr>
                        <a:t>50,000 USDT</a:t>
                      </a:r>
                      <a:endParaRPr lang="en-US" sz="1000" dirty="0">
                        <a:latin typeface="Arial" charset="0"/>
                        <a:ea typeface="Arial" charset="0"/>
                        <a:cs typeface="Arial" charset="0"/>
                      </a:endParaRPr>
                    </a:p>
                  </a:txBody>
                  <a:tcPr marL="91440" marR="91440" marT="45720" marB="45720">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E1A38"/>
                    </a:solidFill>
                  </a:tcPr>
                </a:tc>
              </a:tr>
            </a:tbl>
          </a:graphicData>
        </a:graphic>
      </p:graphicFrame>
      <p:sp>
        <p:nvSpPr>
          <p:cNvPr id="13" name="Text 9"/>
          <p:cNvSpPr/>
          <p:nvPr/>
        </p:nvSpPr>
        <p:spPr>
          <a:xfrm>
            <a:off x="731520" y="5943600"/>
            <a:ext cx="10725912" cy="365760"/>
          </a:xfrm>
          <a:prstGeom prst="rect">
            <a:avLst/>
          </a:prstGeom>
          <a:noFill/>
          <a:ln/>
        </p:spPr>
        <p:txBody>
          <a:bodyPr wrap="square" rtlCol="0" anchor="ctr"/>
          <a:lstStyle/>
          <a:p>
            <a:pPr algn="ctr" indent="0" marL="0">
              <a:buNone/>
            </a:pPr>
            <a:r>
              <a:rPr lang="en-US" sz="1200" b="1" dirty="0">
                <a:solidFill>
                  <a:srgbClr val="F59E0B"/>
                </a:solidFill>
                <a:latin typeface="Arial" pitchFamily="34" charset="0"/>
                <a:ea typeface="Arial" pitchFamily="34" charset="-122"/>
                <a:cs typeface="Arial" pitchFamily="34" charset="-120"/>
              </a:rPr>
              <a:t>BIGGER DREAMS • HIGHER INCOME • A BRIGHTER FUTURE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TERMS AND CONDITIONS</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Direct, Transparent and Unconditional Policies</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13 of 15</a:t>
            </a:r>
            <a:endParaRPr lang="en-US" sz="900" dirty="0"/>
          </a:p>
        </p:txBody>
      </p:sp>
      <p:sp>
        <p:nvSpPr>
          <p:cNvPr id="12" name="Shape 9"/>
          <p:cNvSpPr/>
          <p:nvPr/>
        </p:nvSpPr>
        <p:spPr>
          <a:xfrm>
            <a:off x="731520" y="1737360"/>
            <a:ext cx="5212080" cy="1097280"/>
          </a:xfrm>
          <a:prstGeom prst="roundRect">
            <a:avLst/>
          </a:prstGeom>
          <a:solidFill>
            <a:srgbClr val="0E1A38"/>
          </a:solidFill>
          <a:ln w="19050">
            <a:solidFill>
              <a:srgbClr val="F59E0B"/>
            </a:solidFill>
            <a:prstDash val="solid"/>
          </a:ln>
        </p:spPr>
      </p:sp>
      <p:sp>
        <p:nvSpPr>
          <p:cNvPr id="13" name="Shape 10"/>
          <p:cNvSpPr/>
          <p:nvPr/>
        </p:nvSpPr>
        <p:spPr>
          <a:xfrm>
            <a:off x="868680" y="1874520"/>
            <a:ext cx="411480" cy="411480"/>
          </a:xfrm>
          <a:prstGeom prst="ellipse">
            <a:avLst/>
          </a:prstGeom>
          <a:solidFill>
            <a:srgbClr val="F59E0B"/>
          </a:solidFill>
          <a:ln/>
        </p:spPr>
      </p:sp>
      <p:sp>
        <p:nvSpPr>
          <p:cNvPr id="14" name="Text 11"/>
          <p:cNvSpPr/>
          <p:nvPr/>
        </p:nvSpPr>
        <p:spPr>
          <a:xfrm>
            <a:off x="868680" y="190195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1</a:t>
            </a:r>
            <a:endParaRPr lang="en-US" sz="1200" dirty="0"/>
          </a:p>
        </p:txBody>
      </p:sp>
      <p:sp>
        <p:nvSpPr>
          <p:cNvPr id="15" name="Text 12"/>
          <p:cNvSpPr/>
          <p:nvPr/>
        </p:nvSpPr>
        <p:spPr>
          <a:xfrm>
            <a:off x="1417320" y="184708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Minimum Withdrawal</a:t>
            </a:r>
            <a:endParaRPr lang="en-US" sz="1250" dirty="0"/>
          </a:p>
        </p:txBody>
      </p:sp>
      <p:sp>
        <p:nvSpPr>
          <p:cNvPr id="16" name="Text 13"/>
          <p:cNvSpPr/>
          <p:nvPr/>
        </p:nvSpPr>
        <p:spPr>
          <a:xfrm>
            <a:off x="1417320" y="214884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Minimum withdrawal amount is $1 (1 USDT).</a:t>
            </a:r>
            <a:endParaRPr lang="en-US" sz="1000" dirty="0"/>
          </a:p>
        </p:txBody>
      </p:sp>
      <p:sp>
        <p:nvSpPr>
          <p:cNvPr id="17" name="Shape 14"/>
          <p:cNvSpPr/>
          <p:nvPr/>
        </p:nvSpPr>
        <p:spPr>
          <a:xfrm>
            <a:off x="6217920" y="1737360"/>
            <a:ext cx="5212080" cy="1097280"/>
          </a:xfrm>
          <a:prstGeom prst="roundRect">
            <a:avLst/>
          </a:prstGeom>
          <a:solidFill>
            <a:srgbClr val="0E1A38"/>
          </a:solidFill>
          <a:ln w="19050">
            <a:solidFill>
              <a:srgbClr val="F59E0B"/>
            </a:solidFill>
            <a:prstDash val="solid"/>
          </a:ln>
        </p:spPr>
      </p:sp>
      <p:sp>
        <p:nvSpPr>
          <p:cNvPr id="18" name="Shape 15"/>
          <p:cNvSpPr/>
          <p:nvPr/>
        </p:nvSpPr>
        <p:spPr>
          <a:xfrm>
            <a:off x="6355080" y="1874520"/>
            <a:ext cx="411480" cy="411480"/>
          </a:xfrm>
          <a:prstGeom prst="ellipse">
            <a:avLst/>
          </a:prstGeom>
          <a:solidFill>
            <a:srgbClr val="F59E0B"/>
          </a:solidFill>
          <a:ln/>
        </p:spPr>
      </p:sp>
      <p:sp>
        <p:nvSpPr>
          <p:cNvPr id="19" name="Text 16"/>
          <p:cNvSpPr/>
          <p:nvPr/>
        </p:nvSpPr>
        <p:spPr>
          <a:xfrm>
            <a:off x="6355080" y="190195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2</a:t>
            </a:r>
            <a:endParaRPr lang="en-US" sz="1200" dirty="0"/>
          </a:p>
        </p:txBody>
      </p:sp>
      <p:sp>
        <p:nvSpPr>
          <p:cNvPr id="20" name="Text 17"/>
          <p:cNvSpPr/>
          <p:nvPr/>
        </p:nvSpPr>
        <p:spPr>
          <a:xfrm>
            <a:off x="6903720" y="184708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Deposit &amp; Withdrawal</a:t>
            </a:r>
            <a:endParaRPr lang="en-US" sz="1250" dirty="0"/>
          </a:p>
        </p:txBody>
      </p:sp>
      <p:sp>
        <p:nvSpPr>
          <p:cNvPr id="21" name="Text 18"/>
          <p:cNvSpPr/>
          <p:nvPr/>
        </p:nvSpPr>
        <p:spPr>
          <a:xfrm>
            <a:off x="6903720" y="214884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All deposits and withdrawals will be processed only in BEP-20 USDT on BNB Smart Chain.</a:t>
            </a:r>
            <a:endParaRPr lang="en-US" sz="1000" dirty="0"/>
          </a:p>
        </p:txBody>
      </p:sp>
      <p:sp>
        <p:nvSpPr>
          <p:cNvPr id="22" name="Shape 19"/>
          <p:cNvSpPr/>
          <p:nvPr/>
        </p:nvSpPr>
        <p:spPr>
          <a:xfrm>
            <a:off x="731520" y="2971800"/>
            <a:ext cx="5212080" cy="1097280"/>
          </a:xfrm>
          <a:prstGeom prst="roundRect">
            <a:avLst/>
          </a:prstGeom>
          <a:solidFill>
            <a:srgbClr val="0E1A38"/>
          </a:solidFill>
          <a:ln w="19050">
            <a:solidFill>
              <a:srgbClr val="F59E0B"/>
            </a:solidFill>
            <a:prstDash val="solid"/>
          </a:ln>
        </p:spPr>
      </p:sp>
      <p:sp>
        <p:nvSpPr>
          <p:cNvPr id="23" name="Shape 20"/>
          <p:cNvSpPr/>
          <p:nvPr/>
        </p:nvSpPr>
        <p:spPr>
          <a:xfrm>
            <a:off x="868680" y="3108960"/>
            <a:ext cx="411480" cy="411480"/>
          </a:xfrm>
          <a:prstGeom prst="ellipse">
            <a:avLst/>
          </a:prstGeom>
          <a:solidFill>
            <a:srgbClr val="F59E0B"/>
          </a:solidFill>
          <a:ln/>
        </p:spPr>
      </p:sp>
      <p:sp>
        <p:nvSpPr>
          <p:cNvPr id="24" name="Text 21"/>
          <p:cNvSpPr/>
          <p:nvPr/>
        </p:nvSpPr>
        <p:spPr>
          <a:xfrm>
            <a:off x="868680" y="313639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3</a:t>
            </a:r>
            <a:endParaRPr lang="en-US" sz="1200" dirty="0"/>
          </a:p>
        </p:txBody>
      </p:sp>
      <p:sp>
        <p:nvSpPr>
          <p:cNvPr id="25" name="Text 22"/>
          <p:cNvSpPr/>
          <p:nvPr/>
        </p:nvSpPr>
        <p:spPr>
          <a:xfrm>
            <a:off x="1417320" y="308152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Lifetime Salary</a:t>
            </a:r>
            <a:endParaRPr lang="en-US" sz="1250" dirty="0"/>
          </a:p>
        </p:txBody>
      </p:sp>
      <p:sp>
        <p:nvSpPr>
          <p:cNvPr id="26" name="Text 23"/>
          <p:cNvSpPr/>
          <p:nvPr/>
        </p:nvSpPr>
        <p:spPr>
          <a:xfrm>
            <a:off x="1417320" y="338328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Eligible members can receive Salary for Lifetime, subject to the applicable plan terms and conditions.</a:t>
            </a:r>
            <a:endParaRPr lang="en-US" sz="1000" dirty="0"/>
          </a:p>
        </p:txBody>
      </p:sp>
      <p:sp>
        <p:nvSpPr>
          <p:cNvPr id="27" name="Shape 24"/>
          <p:cNvSpPr/>
          <p:nvPr/>
        </p:nvSpPr>
        <p:spPr>
          <a:xfrm>
            <a:off x="6217920" y="2971800"/>
            <a:ext cx="5212080" cy="1097280"/>
          </a:xfrm>
          <a:prstGeom prst="roundRect">
            <a:avLst/>
          </a:prstGeom>
          <a:solidFill>
            <a:srgbClr val="0E1A38"/>
          </a:solidFill>
          <a:ln w="19050">
            <a:solidFill>
              <a:srgbClr val="F59E0B"/>
            </a:solidFill>
            <a:prstDash val="solid"/>
          </a:ln>
        </p:spPr>
      </p:sp>
      <p:sp>
        <p:nvSpPr>
          <p:cNvPr id="28" name="Shape 25"/>
          <p:cNvSpPr/>
          <p:nvPr/>
        </p:nvSpPr>
        <p:spPr>
          <a:xfrm>
            <a:off x="6355080" y="3108960"/>
            <a:ext cx="411480" cy="411480"/>
          </a:xfrm>
          <a:prstGeom prst="ellipse">
            <a:avLst/>
          </a:prstGeom>
          <a:solidFill>
            <a:srgbClr val="F59E0B"/>
          </a:solidFill>
          <a:ln/>
        </p:spPr>
      </p:sp>
      <p:sp>
        <p:nvSpPr>
          <p:cNvPr id="29" name="Text 26"/>
          <p:cNvSpPr/>
          <p:nvPr/>
        </p:nvSpPr>
        <p:spPr>
          <a:xfrm>
            <a:off x="6355080" y="313639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4</a:t>
            </a:r>
            <a:endParaRPr lang="en-US" sz="1200" dirty="0"/>
          </a:p>
        </p:txBody>
      </p:sp>
      <p:sp>
        <p:nvSpPr>
          <p:cNvPr id="30" name="Text 27"/>
          <p:cNvSpPr/>
          <p:nvPr/>
        </p:nvSpPr>
        <p:spPr>
          <a:xfrm>
            <a:off x="6903720" y="308152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Special Tour Benefits</a:t>
            </a:r>
            <a:endParaRPr lang="en-US" sz="1250" dirty="0"/>
          </a:p>
        </p:txBody>
      </p:sp>
      <p:sp>
        <p:nvSpPr>
          <p:cNvPr id="31" name="Text 28"/>
          <p:cNvSpPr/>
          <p:nvPr/>
        </p:nvSpPr>
        <p:spPr>
          <a:xfrm>
            <a:off x="6903720" y="338328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10,000 Team: International Energy &amp; Fintech Conference Tour.</a:t>
            </a:r>
            <a:endParaRPr lang="en-US" sz="1000" dirty="0"/>
          </a:p>
          <a:p>
            <a:pPr indent="0" marL="0">
              <a:buNone/>
            </a:pPr>
            <a:r>
              <a:rPr lang="en-US" sz="1000" dirty="0">
                <a:solidFill>
                  <a:srgbClr val="FFFFFF"/>
                </a:solidFill>
                <a:latin typeface="Arial" pitchFamily="34" charset="0"/>
                <a:ea typeface="Arial" pitchFamily="34" charset="-122"/>
                <a:cs typeface="Arial" pitchFamily="34" charset="-120"/>
              </a:rPr>
              <a:t>50,000 Team: Executive Global VIP Luxury Tour.</a:t>
            </a:r>
            <a:endParaRPr lang="en-US" sz="1000" dirty="0"/>
          </a:p>
        </p:txBody>
      </p:sp>
      <p:sp>
        <p:nvSpPr>
          <p:cNvPr id="32" name="Shape 29"/>
          <p:cNvSpPr/>
          <p:nvPr/>
        </p:nvSpPr>
        <p:spPr>
          <a:xfrm>
            <a:off x="731520" y="4206240"/>
            <a:ext cx="5212080" cy="1097280"/>
          </a:xfrm>
          <a:prstGeom prst="roundRect">
            <a:avLst/>
          </a:prstGeom>
          <a:solidFill>
            <a:srgbClr val="0E1A38"/>
          </a:solidFill>
          <a:ln w="19050">
            <a:solidFill>
              <a:srgbClr val="F59E0B"/>
            </a:solidFill>
            <a:prstDash val="solid"/>
          </a:ln>
        </p:spPr>
      </p:sp>
      <p:sp>
        <p:nvSpPr>
          <p:cNvPr id="33" name="Shape 30"/>
          <p:cNvSpPr/>
          <p:nvPr/>
        </p:nvSpPr>
        <p:spPr>
          <a:xfrm>
            <a:off x="868680" y="4343400"/>
            <a:ext cx="411480" cy="411480"/>
          </a:xfrm>
          <a:prstGeom prst="ellipse">
            <a:avLst/>
          </a:prstGeom>
          <a:solidFill>
            <a:srgbClr val="F59E0B"/>
          </a:solidFill>
          <a:ln/>
        </p:spPr>
      </p:sp>
      <p:sp>
        <p:nvSpPr>
          <p:cNvPr id="34" name="Text 31"/>
          <p:cNvSpPr/>
          <p:nvPr/>
        </p:nvSpPr>
        <p:spPr>
          <a:xfrm>
            <a:off x="868680" y="437083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5</a:t>
            </a:r>
            <a:endParaRPr lang="en-US" sz="1200" dirty="0"/>
          </a:p>
        </p:txBody>
      </p:sp>
      <p:sp>
        <p:nvSpPr>
          <p:cNvPr id="35" name="Text 32"/>
          <p:cNvSpPr/>
          <p:nvPr/>
        </p:nvSpPr>
        <p:spPr>
          <a:xfrm>
            <a:off x="1417320" y="431596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Admin Fee: 0%</a:t>
            </a:r>
            <a:endParaRPr lang="en-US" sz="1250" dirty="0"/>
          </a:p>
        </p:txBody>
      </p:sp>
      <p:sp>
        <p:nvSpPr>
          <p:cNvPr id="36" name="Text 33"/>
          <p:cNvSpPr/>
          <p:nvPr/>
        </p:nvSpPr>
        <p:spPr>
          <a:xfrm>
            <a:off x="1417320" y="461772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Admin Fee is 0%. Zero deductions on earned USDT balances.</a:t>
            </a:r>
            <a:endParaRPr lang="en-US" sz="1000" dirty="0"/>
          </a:p>
        </p:txBody>
      </p:sp>
      <p:sp>
        <p:nvSpPr>
          <p:cNvPr id="37" name="Shape 34"/>
          <p:cNvSpPr/>
          <p:nvPr/>
        </p:nvSpPr>
        <p:spPr>
          <a:xfrm>
            <a:off x="6217920" y="4206240"/>
            <a:ext cx="5212080" cy="1097280"/>
          </a:xfrm>
          <a:prstGeom prst="roundRect">
            <a:avLst/>
          </a:prstGeom>
          <a:solidFill>
            <a:srgbClr val="0E1A38"/>
          </a:solidFill>
          <a:ln w="19050">
            <a:solidFill>
              <a:srgbClr val="F59E0B"/>
            </a:solidFill>
            <a:prstDash val="solid"/>
          </a:ln>
        </p:spPr>
      </p:sp>
      <p:sp>
        <p:nvSpPr>
          <p:cNvPr id="38" name="Shape 35"/>
          <p:cNvSpPr/>
          <p:nvPr/>
        </p:nvSpPr>
        <p:spPr>
          <a:xfrm>
            <a:off x="6355080" y="4343400"/>
            <a:ext cx="411480" cy="411480"/>
          </a:xfrm>
          <a:prstGeom prst="ellipse">
            <a:avLst/>
          </a:prstGeom>
          <a:solidFill>
            <a:srgbClr val="F59E0B"/>
          </a:solidFill>
          <a:ln/>
        </p:spPr>
      </p:sp>
      <p:sp>
        <p:nvSpPr>
          <p:cNvPr id="39" name="Text 36"/>
          <p:cNvSpPr/>
          <p:nvPr/>
        </p:nvSpPr>
        <p:spPr>
          <a:xfrm>
            <a:off x="6355080" y="4370832"/>
            <a:ext cx="411480" cy="365760"/>
          </a:xfrm>
          <a:prstGeom prst="rect">
            <a:avLst/>
          </a:prstGeom>
          <a:noFill/>
          <a:ln/>
        </p:spPr>
        <p:txBody>
          <a:bodyPr wrap="square"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6</a:t>
            </a:r>
            <a:endParaRPr lang="en-US" sz="1200" dirty="0"/>
          </a:p>
        </p:txBody>
      </p:sp>
      <p:sp>
        <p:nvSpPr>
          <p:cNvPr id="40" name="Text 37"/>
          <p:cNvSpPr/>
          <p:nvPr/>
        </p:nvSpPr>
        <p:spPr>
          <a:xfrm>
            <a:off x="6903720" y="4315968"/>
            <a:ext cx="4389120" cy="320040"/>
          </a:xfrm>
          <a:prstGeom prst="rect">
            <a:avLst/>
          </a:prstGeom>
          <a:noFill/>
          <a:ln/>
        </p:spPr>
        <p:txBody>
          <a:bodyPr wrap="square" rtlCol="0" anchor="ctr"/>
          <a:lstStyle/>
          <a:p>
            <a:pPr indent="0" marL="0">
              <a:buNone/>
            </a:pPr>
            <a:r>
              <a:rPr lang="en-US" sz="1250" b="1" dirty="0">
                <a:solidFill>
                  <a:srgbClr val="F59E0B"/>
                </a:solidFill>
                <a:latin typeface="Arial" pitchFamily="34" charset="0"/>
                <a:ea typeface="Arial" pitchFamily="34" charset="-122"/>
                <a:cs typeface="Arial" pitchFamily="34" charset="-120"/>
              </a:rPr>
              <a:t>Withdrawal Window: 24*7</a:t>
            </a:r>
            <a:endParaRPr lang="en-US" sz="1250" dirty="0"/>
          </a:p>
        </p:txBody>
      </p:sp>
      <p:sp>
        <p:nvSpPr>
          <p:cNvPr id="41" name="Text 38"/>
          <p:cNvSpPr/>
          <p:nvPr/>
        </p:nvSpPr>
        <p:spPr>
          <a:xfrm>
            <a:off x="6903720" y="4617720"/>
            <a:ext cx="4389120" cy="5943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Instant withdrawal window available 24 hours a day, 7 days a week.</a:t>
            </a:r>
            <a:endParaRPr lang="en-US" sz="1000" dirty="0"/>
          </a:p>
        </p:txBody>
      </p:sp>
      <p:sp>
        <p:nvSpPr>
          <p:cNvPr id="42" name="Shape 39"/>
          <p:cNvSpPr/>
          <p:nvPr/>
        </p:nvSpPr>
        <p:spPr>
          <a:xfrm>
            <a:off x="731520" y="5532120"/>
            <a:ext cx="10725912" cy="685800"/>
          </a:xfrm>
          <a:prstGeom prst="roundRect">
            <a:avLst/>
          </a:prstGeom>
          <a:solidFill>
            <a:srgbClr val="0A1E4A"/>
          </a:solidFill>
          <a:ln w="25400">
            <a:solidFill>
              <a:srgbClr val="F59E0B"/>
            </a:solidFill>
            <a:prstDash val="solid"/>
          </a:ln>
        </p:spPr>
      </p:sp>
      <p:sp>
        <p:nvSpPr>
          <p:cNvPr id="43" name="Text 40"/>
          <p:cNvSpPr/>
          <p:nvPr/>
        </p:nvSpPr>
        <p:spPr>
          <a:xfrm>
            <a:off x="731520" y="5669280"/>
            <a:ext cx="10725912" cy="411480"/>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THERE ARE NO CONDITIONS REQUIRED TO EARN LEVEL INCOME.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D1E"/>
        </a:solidFill>
      </p:bgPr>
    </p:bg>
    <p:spTree>
      <p:nvGrpSpPr>
        <p:cNvPr id="1" name=""/>
        <p:cNvGrpSpPr/>
        <p:nvPr/>
      </p:nvGrpSpPr>
      <p:grpSpPr>
        <a:xfrm>
          <a:off x="0" y="0"/>
          <a:ext cx="0" cy="0"/>
          <a:chOff x="0" y="0"/>
          <a:chExt cx="0" cy="0"/>
        </a:xfrm>
      </p:grpSpPr>
      <p:sp>
        <p:nvSpPr>
          <p:cNvPr id="3" name="Shape 0"/>
          <p:cNvSpPr/>
          <p:nvPr/>
        </p:nvSpPr>
        <p:spPr>
          <a:xfrm>
            <a:off x="0" y="0"/>
            <a:ext cx="9144000" cy="777240"/>
          </a:xfrm>
          <a:prstGeom prst="rect">
            <a:avLst/>
          </a:prstGeom>
          <a:solidFill>
            <a:srgbClr val="0A142F"/>
          </a:solidFill>
          <a:ln w="12700">
            <a:solidFill>
              <a:srgbClr val="1E293B"/>
            </a:solidFill>
            <a:prstDash val="solid"/>
          </a:ln>
        </p:spPr>
      </p:sp>
      <p:sp>
        <p:nvSpPr>
          <p:cNvPr id="4" name="Text 1"/>
          <p:cNvSpPr/>
          <p:nvPr/>
        </p:nvSpPr>
        <p:spPr>
          <a:xfrm>
            <a:off x="457200" y="109728"/>
            <a:ext cx="320040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GLOBAL FINANCE™</a:t>
            </a:r>
            <a:endParaRPr lang="en-US" sz="1600" dirty="0"/>
          </a:p>
        </p:txBody>
      </p:sp>
      <p:sp>
        <p:nvSpPr>
          <p:cNvPr id="5" name="Text 2"/>
          <p:cNvSpPr/>
          <p:nvPr/>
        </p:nvSpPr>
        <p:spPr>
          <a:xfrm>
            <a:off x="457200" y="411480"/>
            <a:ext cx="4114800" cy="274320"/>
          </a:xfrm>
          <a:prstGeom prst="rect">
            <a:avLst/>
          </a:prstGeom>
          <a:noFill/>
          <a:ln/>
        </p:spPr>
        <p:txBody>
          <a:bodyPr wrap="square" rtlCol="0" anchor="ctr"/>
          <a:lstStyle/>
          <a:p>
            <a:pPr indent="0" marL="0">
              <a:buNone/>
            </a:pPr>
            <a:r>
              <a:rPr lang="en-US" sz="1000" dirty="0">
                <a:solidFill>
                  <a:srgbClr val="00F0FF"/>
                </a:solidFill>
                <a:latin typeface="Arial" pitchFamily="34" charset="0"/>
                <a:ea typeface="Arial" pitchFamily="34" charset="-122"/>
                <a:cs typeface="Arial" pitchFamily="34" charset="-120"/>
              </a:rPr>
              <a:t>Digital Finance for a Smarter Future</a:t>
            </a:r>
            <a:endParaRPr lang="en-US" sz="1000" dirty="0"/>
          </a:p>
        </p:txBody>
      </p:sp>
      <p:sp>
        <p:nvSpPr>
          <p:cNvPr id="6" name="Text 3"/>
          <p:cNvSpPr/>
          <p:nvPr/>
        </p:nvSpPr>
        <p:spPr>
          <a:xfrm>
            <a:off x="7772400" y="228600"/>
            <a:ext cx="3931920" cy="320040"/>
          </a:xfrm>
          <a:prstGeom prst="rect">
            <a:avLst/>
          </a:prstGeom>
          <a:noFill/>
          <a:ln/>
        </p:spPr>
        <p:txBody>
          <a:bodyPr wrap="square" rtlCol="0" anchor="ctr"/>
          <a:lstStyle/>
          <a:p>
            <a:pPr algn="r" indent="0" marL="0">
              <a:buNone/>
            </a:pPr>
            <a:r>
              <a:rPr lang="en-US" sz="1000" b="1" dirty="0">
                <a:solidFill>
                  <a:srgbClr val="F59E0B"/>
                </a:solidFill>
                <a:latin typeface="Arial" pitchFamily="34" charset="0"/>
                <a:ea typeface="Arial" pitchFamily="34" charset="-122"/>
                <a:cs typeface="Arial" pitchFamily="34" charset="-120"/>
              </a:rPr>
              <a:t>TRUST · GROWTH · SECURITY · TOGETHER</a:t>
            </a:r>
            <a:endParaRPr lang="en-US" sz="1000" dirty="0"/>
          </a:p>
        </p:txBody>
      </p:sp>
      <p:sp>
        <p:nvSpPr>
          <p:cNvPr id="7" name="Text 4"/>
          <p:cNvSpPr/>
          <p:nvPr/>
        </p:nvSpPr>
        <p:spPr>
          <a:xfrm>
            <a:off x="457200" y="868680"/>
            <a:ext cx="11274552" cy="5943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GET IN TOUCH WITH US</a:t>
            </a:r>
            <a:endParaRPr lang="en-US" sz="2200" dirty="0"/>
          </a:p>
        </p:txBody>
      </p:sp>
      <p:sp>
        <p:nvSpPr>
          <p:cNvPr id="8" name="Text 5"/>
          <p:cNvSpPr/>
          <p:nvPr/>
        </p:nvSpPr>
        <p:spPr>
          <a:xfrm>
            <a:off x="457200" y="1371600"/>
            <a:ext cx="11274552" cy="320040"/>
          </a:xfrm>
          <a:prstGeom prst="rect">
            <a:avLst/>
          </a:prstGeom>
          <a:noFill/>
          <a:ln/>
        </p:spPr>
        <p:txBody>
          <a:bodyPr wrap="square" rtlCol="0" anchor="ctr"/>
          <a:lstStyle/>
          <a:p>
            <a:pPr indent="0" marL="0">
              <a:buNone/>
            </a:pPr>
            <a:r>
              <a:rPr lang="en-US" sz="1200" dirty="0">
                <a:solidFill>
                  <a:srgbClr val="00F0FF"/>
                </a:solidFill>
                <a:latin typeface="Arial" pitchFamily="34" charset="0"/>
                <a:ea typeface="Arial" pitchFamily="34" charset="-122"/>
                <a:cs typeface="Arial" pitchFamily="34" charset="-120"/>
              </a:rPr>
              <a:t>Official Platforms &amp; International Contact Information</a:t>
            </a:r>
            <a:endParaRPr lang="en-US" sz="1200" dirty="0"/>
          </a:p>
        </p:txBody>
      </p:sp>
      <p:sp>
        <p:nvSpPr>
          <p:cNvPr id="9" name="Shape 6"/>
          <p:cNvSpPr/>
          <p:nvPr/>
        </p:nvSpPr>
        <p:spPr>
          <a:xfrm>
            <a:off x="0" y="6446520"/>
            <a:ext cx="9144000" cy="411480"/>
          </a:xfrm>
          <a:prstGeom prst="rect">
            <a:avLst/>
          </a:prstGeom>
          <a:solidFill>
            <a:srgbClr val="0A142F"/>
          </a:solidFill>
          <a:ln w="12700">
            <a:solidFill>
              <a:srgbClr val="1E293B"/>
            </a:solidFill>
            <a:prstDash val="solid"/>
          </a:ln>
        </p:spPr>
      </p:sp>
      <p:sp>
        <p:nvSpPr>
          <p:cNvPr id="10" name="Text 7"/>
          <p:cNvSpPr/>
          <p:nvPr/>
        </p:nvSpPr>
        <p:spPr>
          <a:xfrm>
            <a:off x="457200" y="6510528"/>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GLOBAL FINANCE • INVESTMENT PLATFORM • 100% USDT BEP-20</a:t>
            </a:r>
            <a:endParaRPr lang="en-US" sz="900" dirty="0"/>
          </a:p>
        </p:txBody>
      </p:sp>
      <p:sp>
        <p:nvSpPr>
          <p:cNvPr id="11" name="Text 8"/>
          <p:cNvSpPr/>
          <p:nvPr/>
        </p:nvSpPr>
        <p:spPr>
          <a:xfrm>
            <a:off x="9601200" y="6510528"/>
            <a:ext cx="210312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14 of 15</a:t>
            </a:r>
            <a:endParaRPr lang="en-US" sz="900" dirty="0"/>
          </a:p>
        </p:txBody>
      </p:sp>
      <p:sp>
        <p:nvSpPr>
          <p:cNvPr id="12" name="Shape 9"/>
          <p:cNvSpPr/>
          <p:nvPr/>
        </p:nvSpPr>
        <p:spPr>
          <a:xfrm>
            <a:off x="1371600" y="1737360"/>
            <a:ext cx="9445752" cy="1188720"/>
          </a:xfrm>
          <a:prstGeom prst="roundRect">
            <a:avLst/>
          </a:prstGeom>
          <a:solidFill>
            <a:srgbClr val="0E1A38"/>
          </a:solidFill>
          <a:ln w="19050">
            <a:solidFill>
              <a:srgbClr val="F59E0B"/>
            </a:solidFill>
            <a:prstDash val="solid"/>
          </a:ln>
        </p:spPr>
      </p:sp>
      <p:sp>
        <p:nvSpPr>
          <p:cNvPr id="13" name="Text 10"/>
          <p:cNvSpPr/>
          <p:nvPr/>
        </p:nvSpPr>
        <p:spPr>
          <a:xfrm>
            <a:off x="1645920" y="1874520"/>
            <a:ext cx="8869680" cy="365760"/>
          </a:xfrm>
          <a:prstGeom prst="rect">
            <a:avLst/>
          </a:prstGeom>
          <a:noFill/>
          <a:ln/>
        </p:spPr>
        <p:txBody>
          <a:bodyPr wrap="square" rtlCol="0" anchor="ctr"/>
          <a:lstStyle/>
          <a:p>
            <a:pPr indent="0" marL="0">
              <a:buNone/>
            </a:pPr>
            <a:r>
              <a:rPr lang="en-US" sz="1500" b="1" dirty="0">
                <a:solidFill>
                  <a:srgbClr val="F59E0B"/>
                </a:solidFill>
                <a:latin typeface="Arial" pitchFamily="34" charset="0"/>
                <a:ea typeface="Arial" pitchFamily="34" charset="-122"/>
                <a:cs typeface="Arial" pitchFamily="34" charset="-120"/>
              </a:rPr>
              <a:t>Official Website</a:t>
            </a:r>
            <a:endParaRPr lang="en-US" sz="1500" dirty="0"/>
          </a:p>
        </p:txBody>
      </p:sp>
      <p:sp>
        <p:nvSpPr>
          <p:cNvPr id="14" name="Text 11"/>
          <p:cNvSpPr/>
          <p:nvPr/>
        </p:nvSpPr>
        <p:spPr>
          <a:xfrm>
            <a:off x="1645920" y="2240280"/>
            <a:ext cx="8869680" cy="594360"/>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Visit our official website for portal access &amp; member registrations:</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www.globalfinance.world</a:t>
            </a:r>
            <a:endParaRPr lang="en-US" sz="1150" dirty="0"/>
          </a:p>
        </p:txBody>
      </p:sp>
      <p:sp>
        <p:nvSpPr>
          <p:cNvPr id="15" name="Shape 12"/>
          <p:cNvSpPr/>
          <p:nvPr/>
        </p:nvSpPr>
        <p:spPr>
          <a:xfrm>
            <a:off x="1371600" y="3108960"/>
            <a:ext cx="9445752" cy="1188720"/>
          </a:xfrm>
          <a:prstGeom prst="roundRect">
            <a:avLst/>
          </a:prstGeom>
          <a:solidFill>
            <a:srgbClr val="0E1A38"/>
          </a:solidFill>
          <a:ln w="19050">
            <a:solidFill>
              <a:srgbClr val="F59E0B"/>
            </a:solidFill>
            <a:prstDash val="solid"/>
          </a:ln>
        </p:spPr>
      </p:sp>
      <p:sp>
        <p:nvSpPr>
          <p:cNvPr id="16" name="Text 13"/>
          <p:cNvSpPr/>
          <p:nvPr/>
        </p:nvSpPr>
        <p:spPr>
          <a:xfrm>
            <a:off x="1645920" y="3246120"/>
            <a:ext cx="8869680" cy="365760"/>
          </a:xfrm>
          <a:prstGeom prst="rect">
            <a:avLst/>
          </a:prstGeom>
          <a:noFill/>
          <a:ln/>
        </p:spPr>
        <p:txBody>
          <a:bodyPr wrap="square" rtlCol="0" anchor="ctr"/>
          <a:lstStyle/>
          <a:p>
            <a:pPr indent="0" marL="0">
              <a:buNone/>
            </a:pPr>
            <a:r>
              <a:rPr lang="en-US" sz="1500" b="1" dirty="0">
                <a:solidFill>
                  <a:srgbClr val="F59E0B"/>
                </a:solidFill>
                <a:latin typeface="Arial" pitchFamily="34" charset="0"/>
                <a:ea typeface="Arial" pitchFamily="34" charset="-122"/>
                <a:cs typeface="Arial" pitchFamily="34" charset="-120"/>
              </a:rPr>
              <a:t>Corporate Headquarters</a:t>
            </a:r>
            <a:endParaRPr lang="en-US" sz="1500" dirty="0"/>
          </a:p>
        </p:txBody>
      </p:sp>
      <p:sp>
        <p:nvSpPr>
          <p:cNvPr id="17" name="Text 14"/>
          <p:cNvSpPr/>
          <p:nvPr/>
        </p:nvSpPr>
        <p:spPr>
          <a:xfrm>
            <a:off x="1645920" y="3611880"/>
            <a:ext cx="8869680" cy="594360"/>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10 Downing Street, London, SW1A 2AA</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United Kingdom</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Global Finance International Holdings UK</a:t>
            </a:r>
            <a:endParaRPr lang="en-US" sz="1150" dirty="0"/>
          </a:p>
        </p:txBody>
      </p:sp>
      <p:sp>
        <p:nvSpPr>
          <p:cNvPr id="18" name="Shape 15"/>
          <p:cNvSpPr/>
          <p:nvPr/>
        </p:nvSpPr>
        <p:spPr>
          <a:xfrm>
            <a:off x="1371600" y="4480560"/>
            <a:ext cx="9445752" cy="1188720"/>
          </a:xfrm>
          <a:prstGeom prst="roundRect">
            <a:avLst/>
          </a:prstGeom>
          <a:solidFill>
            <a:srgbClr val="0E1A38"/>
          </a:solidFill>
          <a:ln w="19050">
            <a:solidFill>
              <a:srgbClr val="F59E0B"/>
            </a:solidFill>
            <a:prstDash val="solid"/>
          </a:ln>
        </p:spPr>
      </p:sp>
      <p:sp>
        <p:nvSpPr>
          <p:cNvPr id="19" name="Text 16"/>
          <p:cNvSpPr/>
          <p:nvPr/>
        </p:nvSpPr>
        <p:spPr>
          <a:xfrm>
            <a:off x="1645920" y="4617720"/>
            <a:ext cx="8869680" cy="365760"/>
          </a:xfrm>
          <a:prstGeom prst="rect">
            <a:avLst/>
          </a:prstGeom>
          <a:noFill/>
          <a:ln/>
        </p:spPr>
        <p:txBody>
          <a:bodyPr wrap="square" rtlCol="0" anchor="ctr"/>
          <a:lstStyle/>
          <a:p>
            <a:pPr indent="0" marL="0">
              <a:buNone/>
            </a:pPr>
            <a:r>
              <a:rPr lang="en-US" sz="1500" b="1" dirty="0">
                <a:solidFill>
                  <a:srgbClr val="F59E0B"/>
                </a:solidFill>
                <a:latin typeface="Arial" pitchFamily="34" charset="0"/>
                <a:ea typeface="Arial" pitchFamily="34" charset="-122"/>
                <a:cs typeface="Arial" pitchFamily="34" charset="-120"/>
              </a:rPr>
              <a:t>Global Operations &amp; Custody Hub</a:t>
            </a:r>
            <a:endParaRPr lang="en-US" sz="1500" dirty="0"/>
          </a:p>
        </p:txBody>
      </p:sp>
      <p:sp>
        <p:nvSpPr>
          <p:cNvPr id="20" name="Text 17"/>
          <p:cNvSpPr/>
          <p:nvPr/>
        </p:nvSpPr>
        <p:spPr>
          <a:xfrm>
            <a:off x="1645920" y="4983480"/>
            <a:ext cx="8869680" cy="594360"/>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Global Finance Institutional Operations</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London &amp; Zurich Multi-Trade Hub</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24/7 Automated Smart Settlements</a:t>
            </a:r>
            <a:endParaRPr lang="en-US" sz="1150" dirty="0"/>
          </a:p>
        </p:txBody>
      </p:sp>
      <p:sp>
        <p:nvSpPr>
          <p:cNvPr id="21" name="Shape 18"/>
          <p:cNvSpPr/>
          <p:nvPr/>
        </p:nvSpPr>
        <p:spPr>
          <a:xfrm>
            <a:off x="731520" y="5852160"/>
            <a:ext cx="2560320" cy="502920"/>
          </a:xfrm>
          <a:prstGeom prst="roundRect">
            <a:avLst/>
          </a:prstGeom>
          <a:solidFill>
            <a:srgbClr val="0A142F"/>
          </a:solidFill>
          <a:ln/>
        </p:spPr>
      </p:sp>
      <p:sp>
        <p:nvSpPr>
          <p:cNvPr id="22" name="Text 19"/>
          <p:cNvSpPr/>
          <p:nvPr/>
        </p:nvSpPr>
        <p:spPr>
          <a:xfrm>
            <a:off x="731520" y="5925312"/>
            <a:ext cx="2560320" cy="320040"/>
          </a:xfrm>
          <a:prstGeom prst="rect">
            <a:avLst/>
          </a:prstGeom>
          <a:noFill/>
          <a:ln/>
        </p:spPr>
        <p:txBody>
          <a:bodyPr wrap="square" rtlCol="0" anchor="ctr"/>
          <a:lstStyle/>
          <a:p>
            <a:pPr algn="ctr" indent="0" marL="0">
              <a:buNone/>
            </a:pPr>
            <a:r>
              <a:rPr lang="en-US" sz="950" b="1" dirty="0">
                <a:solidFill>
                  <a:srgbClr val="00F0FF"/>
                </a:solidFill>
                <a:latin typeface="Arial" pitchFamily="34" charset="0"/>
                <a:ea typeface="Arial" pitchFamily="34" charset="-122"/>
                <a:cs typeface="Arial" pitchFamily="34" charset="-120"/>
              </a:rPr>
              <a:t>TRUST — Our Foundation</a:t>
            </a:r>
            <a:endParaRPr lang="en-US" sz="950" dirty="0"/>
          </a:p>
        </p:txBody>
      </p:sp>
      <p:sp>
        <p:nvSpPr>
          <p:cNvPr id="23" name="Shape 20"/>
          <p:cNvSpPr/>
          <p:nvPr/>
        </p:nvSpPr>
        <p:spPr>
          <a:xfrm>
            <a:off x="3456432" y="5852160"/>
            <a:ext cx="2560320" cy="502920"/>
          </a:xfrm>
          <a:prstGeom prst="roundRect">
            <a:avLst/>
          </a:prstGeom>
          <a:solidFill>
            <a:srgbClr val="0A142F"/>
          </a:solidFill>
          <a:ln/>
        </p:spPr>
      </p:sp>
      <p:sp>
        <p:nvSpPr>
          <p:cNvPr id="24" name="Text 21"/>
          <p:cNvSpPr/>
          <p:nvPr/>
        </p:nvSpPr>
        <p:spPr>
          <a:xfrm>
            <a:off x="3456432" y="5925312"/>
            <a:ext cx="2560320" cy="320040"/>
          </a:xfrm>
          <a:prstGeom prst="rect">
            <a:avLst/>
          </a:prstGeom>
          <a:noFill/>
          <a:ln/>
        </p:spPr>
        <p:txBody>
          <a:bodyPr wrap="square" rtlCol="0" anchor="ctr"/>
          <a:lstStyle/>
          <a:p>
            <a:pPr algn="ctr" indent="0" marL="0">
              <a:buNone/>
            </a:pPr>
            <a:r>
              <a:rPr lang="en-US" sz="950" b="1" dirty="0">
                <a:solidFill>
                  <a:srgbClr val="00F0FF"/>
                </a:solidFill>
                <a:latin typeface="Arial" pitchFamily="34" charset="0"/>
                <a:ea typeface="Arial" pitchFamily="34" charset="-122"/>
                <a:cs typeface="Arial" pitchFamily="34" charset="-120"/>
              </a:rPr>
              <a:t>GROWTH — Your Opportunity</a:t>
            </a:r>
            <a:endParaRPr lang="en-US" sz="950" dirty="0"/>
          </a:p>
        </p:txBody>
      </p:sp>
      <p:sp>
        <p:nvSpPr>
          <p:cNvPr id="25" name="Shape 22"/>
          <p:cNvSpPr/>
          <p:nvPr/>
        </p:nvSpPr>
        <p:spPr>
          <a:xfrm>
            <a:off x="6181344" y="5852160"/>
            <a:ext cx="2560320" cy="502920"/>
          </a:xfrm>
          <a:prstGeom prst="roundRect">
            <a:avLst/>
          </a:prstGeom>
          <a:solidFill>
            <a:srgbClr val="0A142F"/>
          </a:solidFill>
          <a:ln/>
        </p:spPr>
      </p:sp>
      <p:sp>
        <p:nvSpPr>
          <p:cNvPr id="26" name="Text 23"/>
          <p:cNvSpPr/>
          <p:nvPr/>
        </p:nvSpPr>
        <p:spPr>
          <a:xfrm>
            <a:off x="6181344" y="5925312"/>
            <a:ext cx="2560320" cy="320040"/>
          </a:xfrm>
          <a:prstGeom prst="rect">
            <a:avLst/>
          </a:prstGeom>
          <a:noFill/>
          <a:ln/>
        </p:spPr>
        <p:txBody>
          <a:bodyPr wrap="square" rtlCol="0" anchor="ctr"/>
          <a:lstStyle/>
          <a:p>
            <a:pPr algn="ctr" indent="0" marL="0">
              <a:buNone/>
            </a:pPr>
            <a:r>
              <a:rPr lang="en-US" sz="950" b="1" dirty="0">
                <a:solidFill>
                  <a:srgbClr val="00F0FF"/>
                </a:solidFill>
                <a:latin typeface="Arial" pitchFamily="34" charset="0"/>
                <a:ea typeface="Arial" pitchFamily="34" charset="-122"/>
                <a:cs typeface="Arial" pitchFamily="34" charset="-120"/>
              </a:rPr>
              <a:t>SECURITY — Our Commitment</a:t>
            </a:r>
            <a:endParaRPr lang="en-US" sz="950" dirty="0"/>
          </a:p>
        </p:txBody>
      </p:sp>
      <p:sp>
        <p:nvSpPr>
          <p:cNvPr id="27" name="Shape 24"/>
          <p:cNvSpPr/>
          <p:nvPr/>
        </p:nvSpPr>
        <p:spPr>
          <a:xfrm>
            <a:off x="8906256" y="5852160"/>
            <a:ext cx="2560320" cy="502920"/>
          </a:xfrm>
          <a:prstGeom prst="roundRect">
            <a:avLst/>
          </a:prstGeom>
          <a:solidFill>
            <a:srgbClr val="0A142F"/>
          </a:solidFill>
          <a:ln/>
        </p:spPr>
      </p:sp>
      <p:sp>
        <p:nvSpPr>
          <p:cNvPr id="28" name="Text 25"/>
          <p:cNvSpPr/>
          <p:nvPr/>
        </p:nvSpPr>
        <p:spPr>
          <a:xfrm>
            <a:off x="8906256" y="5925312"/>
            <a:ext cx="2560320" cy="320040"/>
          </a:xfrm>
          <a:prstGeom prst="rect">
            <a:avLst/>
          </a:prstGeom>
          <a:noFill/>
          <a:ln/>
        </p:spPr>
        <p:txBody>
          <a:bodyPr wrap="square" rtlCol="0" anchor="ctr"/>
          <a:lstStyle/>
          <a:p>
            <a:pPr algn="ctr" indent="0" marL="0">
              <a:buNone/>
            </a:pPr>
            <a:r>
              <a:rPr lang="en-US" sz="950" b="1" dirty="0">
                <a:solidFill>
                  <a:srgbClr val="00F0FF"/>
                </a:solidFill>
                <a:latin typeface="Arial" pitchFamily="34" charset="0"/>
                <a:ea typeface="Arial" pitchFamily="34" charset="-122"/>
                <a:cs typeface="Arial" pitchFamily="34" charset="-120"/>
              </a:rPr>
              <a:t>TOGETHER — A Brighter Future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D1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3803904" y="640080"/>
            <a:ext cx="4572000" cy="2560320"/>
          </a:xfrm>
          <a:prstGeom prst="rect">
            <a:avLst/>
          </a:prstGeom>
        </p:spPr>
      </p:pic>
      <p:sp>
        <p:nvSpPr>
          <p:cNvPr id="4" name="Text 0"/>
          <p:cNvSpPr/>
          <p:nvPr/>
        </p:nvSpPr>
        <p:spPr>
          <a:xfrm>
            <a:off x="457200" y="3337560"/>
            <a:ext cx="11274552" cy="822960"/>
          </a:xfrm>
          <a:prstGeom prst="rect">
            <a:avLst/>
          </a:prstGeom>
          <a:noFill/>
          <a:ln/>
        </p:spPr>
        <p:txBody>
          <a:bodyPr wrap="square" rtlCol="0" anchor="ctr"/>
          <a:lstStyle/>
          <a:p>
            <a:pPr algn="ctr" indent="0" marL="0">
              <a:buNone/>
            </a:pPr>
            <a:r>
              <a:rPr lang="en-US" sz="4800" b="1" dirty="0">
                <a:solidFill>
                  <a:srgbClr val="F59E0B"/>
                </a:solidFill>
                <a:latin typeface="Arial" pitchFamily="34" charset="0"/>
                <a:ea typeface="Arial" pitchFamily="34" charset="-122"/>
                <a:cs typeface="Arial" pitchFamily="34" charset="-120"/>
              </a:rPr>
              <a:t>THANK YOU</a:t>
            </a:r>
            <a:endParaRPr lang="en-US" sz="4800" dirty="0"/>
          </a:p>
        </p:txBody>
      </p:sp>
      <p:sp>
        <p:nvSpPr>
          <p:cNvPr id="5" name="Text 1"/>
          <p:cNvSpPr/>
          <p:nvPr/>
        </p:nvSpPr>
        <p:spPr>
          <a:xfrm>
            <a:off x="457200" y="4160520"/>
            <a:ext cx="11274552" cy="457200"/>
          </a:xfrm>
          <a:prstGeom prst="rect">
            <a:avLst/>
          </a:prstGeom>
          <a:noFill/>
          <a:ln/>
        </p:spPr>
        <p:txBody>
          <a:bodyPr wrap="square" rtlCol="0" anchor="ctr"/>
          <a:lstStyle/>
          <a:p>
            <a:pPr algn="ctr" indent="0" marL="0">
              <a:buNone/>
            </a:pPr>
            <a:r>
              <a:rPr lang="en-US" sz="2000" i="1" dirty="0">
                <a:solidFill>
                  <a:srgbClr val="FFFFFF"/>
                </a:solidFill>
                <a:latin typeface="Arial" pitchFamily="34" charset="0"/>
                <a:ea typeface="Arial" pitchFamily="34" charset="-122"/>
                <a:cs typeface="Arial" pitchFamily="34" charset="-120"/>
              </a:rPr>
              <a:t>For Your Time &amp; Support</a:t>
            </a:r>
            <a:endParaRPr lang="en-US" sz="2000" dirty="0"/>
          </a:p>
        </p:txBody>
      </p:sp>
      <p:sp>
        <p:nvSpPr>
          <p:cNvPr id="6" name="Shape 2"/>
          <p:cNvSpPr/>
          <p:nvPr/>
        </p:nvSpPr>
        <p:spPr>
          <a:xfrm>
            <a:off x="2286000" y="4754880"/>
            <a:ext cx="7616952" cy="685800"/>
          </a:xfrm>
          <a:prstGeom prst="roundRect">
            <a:avLst/>
          </a:prstGeom>
          <a:solidFill>
            <a:srgbClr val="0E1A38"/>
          </a:solidFill>
          <a:ln w="25400">
            <a:solidFill>
              <a:srgbClr val="F59E0B"/>
            </a:solidFill>
            <a:prstDash val="solid"/>
          </a:ln>
        </p:spPr>
      </p:sp>
      <p:sp>
        <p:nvSpPr>
          <p:cNvPr id="7" name="Text 3"/>
          <p:cNvSpPr/>
          <p:nvPr/>
        </p:nvSpPr>
        <p:spPr>
          <a:xfrm>
            <a:off x="2286000" y="4892040"/>
            <a:ext cx="7616952" cy="411480"/>
          </a:xfrm>
          <a:prstGeom prst="rect">
            <a:avLst/>
          </a:prstGeom>
          <a:noFill/>
          <a:ln/>
        </p:spPr>
        <p:txBody>
          <a:bodyPr wrap="square" rtlCol="0" anchor="ctr"/>
          <a:lstStyle/>
          <a:p>
            <a:pPr algn="ctr" indent="0" marL="0">
              <a:buNone/>
            </a:pPr>
            <a:r>
              <a:rPr lang="en-US" sz="1600" b="1" dirty="0">
                <a:solidFill>
                  <a:srgbClr val="00F0FF"/>
                </a:solidFill>
                <a:latin typeface="Arial" pitchFamily="34" charset="0"/>
                <a:ea typeface="Arial" pitchFamily="34" charset="-122"/>
                <a:cs typeface="Arial" pitchFamily="34" charset="-120"/>
              </a:rPr>
              <a:t>Together We Build a Smarter Financial Future</a:t>
            </a:r>
            <a:endParaRPr lang="en-US" sz="1600" dirty="0"/>
          </a:p>
        </p:txBody>
      </p:sp>
      <p:sp>
        <p:nvSpPr>
          <p:cNvPr id="8" name="Shape 4"/>
          <p:cNvSpPr/>
          <p:nvPr/>
        </p:nvSpPr>
        <p:spPr>
          <a:xfrm>
            <a:off x="914400" y="5669280"/>
            <a:ext cx="2377440" cy="640080"/>
          </a:xfrm>
          <a:prstGeom prst="roundRect">
            <a:avLst/>
          </a:prstGeom>
          <a:solidFill>
            <a:srgbClr val="0A142F"/>
          </a:solidFill>
          <a:ln w="12700">
            <a:solidFill>
              <a:srgbClr val="1D4ED8"/>
            </a:solidFill>
            <a:prstDash val="solid"/>
          </a:ln>
        </p:spPr>
      </p:sp>
      <p:sp>
        <p:nvSpPr>
          <p:cNvPr id="9" name="Text 5"/>
          <p:cNvSpPr/>
          <p:nvPr/>
        </p:nvSpPr>
        <p:spPr>
          <a:xfrm>
            <a:off x="914400" y="5742432"/>
            <a:ext cx="237744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TRUST</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Our Foundation</a:t>
            </a:r>
            <a:endParaRPr lang="en-US" sz="1000" dirty="0"/>
          </a:p>
        </p:txBody>
      </p:sp>
      <p:sp>
        <p:nvSpPr>
          <p:cNvPr id="10" name="Shape 6"/>
          <p:cNvSpPr/>
          <p:nvPr/>
        </p:nvSpPr>
        <p:spPr>
          <a:xfrm>
            <a:off x="3520440" y="5669280"/>
            <a:ext cx="2377440" cy="640080"/>
          </a:xfrm>
          <a:prstGeom prst="roundRect">
            <a:avLst/>
          </a:prstGeom>
          <a:solidFill>
            <a:srgbClr val="0A142F"/>
          </a:solidFill>
          <a:ln w="12700">
            <a:solidFill>
              <a:srgbClr val="1D4ED8"/>
            </a:solidFill>
            <a:prstDash val="solid"/>
          </a:ln>
        </p:spPr>
      </p:sp>
      <p:sp>
        <p:nvSpPr>
          <p:cNvPr id="11" name="Text 7"/>
          <p:cNvSpPr/>
          <p:nvPr/>
        </p:nvSpPr>
        <p:spPr>
          <a:xfrm>
            <a:off x="3520440" y="5742432"/>
            <a:ext cx="237744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GROWTH</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Your Opportunity</a:t>
            </a:r>
            <a:endParaRPr lang="en-US" sz="1000" dirty="0"/>
          </a:p>
        </p:txBody>
      </p:sp>
      <p:sp>
        <p:nvSpPr>
          <p:cNvPr id="12" name="Shape 8"/>
          <p:cNvSpPr/>
          <p:nvPr/>
        </p:nvSpPr>
        <p:spPr>
          <a:xfrm>
            <a:off x="6126480" y="5669280"/>
            <a:ext cx="2377440" cy="640080"/>
          </a:xfrm>
          <a:prstGeom prst="roundRect">
            <a:avLst/>
          </a:prstGeom>
          <a:solidFill>
            <a:srgbClr val="0A142F"/>
          </a:solidFill>
          <a:ln w="12700">
            <a:solidFill>
              <a:srgbClr val="1D4ED8"/>
            </a:solidFill>
            <a:prstDash val="solid"/>
          </a:ln>
        </p:spPr>
      </p:sp>
      <p:sp>
        <p:nvSpPr>
          <p:cNvPr id="13" name="Text 9"/>
          <p:cNvSpPr/>
          <p:nvPr/>
        </p:nvSpPr>
        <p:spPr>
          <a:xfrm>
            <a:off x="6126480" y="5742432"/>
            <a:ext cx="237744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SECURITY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Our Commitment</a:t>
            </a:r>
            <a:endParaRPr lang="en-US" sz="1000" dirty="0"/>
          </a:p>
        </p:txBody>
      </p:sp>
      <p:sp>
        <p:nvSpPr>
          <p:cNvPr id="14" name="Shape 10"/>
          <p:cNvSpPr/>
          <p:nvPr/>
        </p:nvSpPr>
        <p:spPr>
          <a:xfrm>
            <a:off x="8732520" y="5669280"/>
            <a:ext cx="2377440" cy="640080"/>
          </a:xfrm>
          <a:prstGeom prst="roundRect">
            <a:avLst/>
          </a:prstGeom>
          <a:solidFill>
            <a:srgbClr val="0A142F"/>
          </a:solidFill>
          <a:ln w="12700">
            <a:solidFill>
              <a:srgbClr val="1D4ED8"/>
            </a:solidFill>
            <a:prstDash val="solid"/>
          </a:ln>
        </p:spPr>
      </p:sp>
      <p:sp>
        <p:nvSpPr>
          <p:cNvPr id="15" name="Text 11"/>
          <p:cNvSpPr/>
          <p:nvPr/>
        </p:nvSpPr>
        <p:spPr>
          <a:xfrm>
            <a:off x="8732520" y="5742432"/>
            <a:ext cx="237744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TOGETHER</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A Brighter Future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Global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FINANCE — Digital Finance for a Smarter Future</dc:title>
  <dc:subject>Global Finance Investment Platform Presentation (USDT)</dc:subject>
  <dc:creator>Global Finance International</dc:creator>
  <cp:lastModifiedBy>Global Finance International</cp:lastModifiedBy>
  <cp:revision>1</cp:revision>
  <dcterms:created xsi:type="dcterms:W3CDTF">2026-10-19T08:05:24Z</dcterms:created>
  <dcterms:modified xsi:type="dcterms:W3CDTF">2026-10-19T08:05:24Z</dcterms:modified>
</cp:coreProperties>
</file>